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731520"/>
            <a:ext cx="1645920" cy="1645920"/>
          </a:xfrm>
          <a:prstGeom prst="ellipse">
            <a:avLst/>
          </a:prstGeom>
          <a:solidFill>
            <a:srgbClr val="0F3460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7315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498080" y="292608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292608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0" y="292608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0" y="292608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0" y="292608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4389120"/>
            <a:ext cx="3657600" cy="3657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09728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德国铁路DB Metaverse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系统综合分析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方案介绍与技术路线深度解析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31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1371600" cy="27432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3200400"/>
            <a:ext cx="914400" cy="914400"/>
          </a:xfrm>
          <a:prstGeom prst="ellipse">
            <a:avLst/>
          </a:prstGeom>
          <a:solidFill>
            <a:srgbClr val="16213E"/>
          </a:solidFill>
          <a:ln w="19050">
            <a:solidFill>
              <a:srgbClr val="FF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200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41148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411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640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DB数字化转型战略与发展历程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896112"/>
            <a:ext cx="47548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00584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960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系统方案总览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1234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三大应用领域与业务覆盖范围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0" y="1490472"/>
            <a:ext cx="47548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160020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员工培训与专业发展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1828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EVE平台、AR培训与Bahn360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0" y="2084832"/>
            <a:ext cx="47548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0" y="219456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基础设施数字孪生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2423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铁路网孪生与Connected Factory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0" y="2679192"/>
            <a:ext cx="47548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0" name="Shape 28"/>
          <p:cNvSpPr/>
          <p:nvPr/>
        </p:nvSpPr>
        <p:spPr>
          <a:xfrm>
            <a:off x="3291840" y="278892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技术架构与路线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40480" y="3017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双引擎策略与AI数据技术栈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0" y="3273552"/>
            <a:ext cx="47548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5" name="Shape 33"/>
          <p:cNvSpPr/>
          <p:nvPr/>
        </p:nvSpPr>
        <p:spPr>
          <a:xfrm>
            <a:off x="3291840" y="338328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329184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4048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实施效果与成果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40480" y="3611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部署规模与业务成效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40480" y="3867912"/>
            <a:ext cx="475488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0" name="Shape 38"/>
          <p:cNvSpPr/>
          <p:nvPr/>
        </p:nvSpPr>
        <p:spPr>
          <a:xfrm>
            <a:off x="3291840" y="3977640"/>
            <a:ext cx="365760" cy="36576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048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84048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核心结论与未来方向</a:t>
            </a:r>
            <a:endParaRPr lang="en-US" sz="900" dirty="0"/>
          </a:p>
        </p:txBody>
      </p:sp>
      <p:sp>
        <p:nvSpPr>
          <p:cNvPr id="4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73152" cy="23774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3840480"/>
            <a:ext cx="2743200" cy="3657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Deutsche Bahn 数字化转型战略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54864" cy="6400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365760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3657600" cy="45720"/>
          </a:xfrm>
          <a:prstGeom prst="rect">
            <a:avLst>
              <a:gd name="adj" fmla="val 160000"/>
            </a:avLst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188720"/>
            <a:ext cx="411480" cy="41148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1430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DB集团概况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西欧最大铁路运营商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33,000公里铁路网络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5,700个车站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日均运送旅客700万人次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年营收超500亿欧元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365760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3657600" cy="45720"/>
          </a:xfrm>
          <a:prstGeom prst="rect">
            <a:avLst>
              <a:gd name="adj" fmla="val 160000"/>
            </a:avLst>
          </a:prstGeom>
          <a:solidFill>
            <a:srgbClr val="0F3460"/>
          </a:solidFill>
          <a:ln/>
        </p:spPr>
      </p:sp>
      <p:sp>
        <p:nvSpPr>
          <p:cNvPr id="14" name="Shape 12"/>
          <p:cNvSpPr/>
          <p:nvPr/>
        </p:nvSpPr>
        <p:spPr>
          <a:xfrm>
            <a:off x="4800600" y="1188720"/>
            <a:ext cx="411480" cy="41148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11430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 Systel子公司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6916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DB集团IT服务核心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7,000+技术员工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业务覆盖98个国家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负责数字化转型落地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云服务与网络安全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834640"/>
            <a:ext cx="365760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834640"/>
            <a:ext cx="3657600" cy="45720"/>
          </a:xfrm>
          <a:prstGeom prst="rect">
            <a:avLst>
              <a:gd name="adj" fmla="val 160000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017520"/>
            <a:ext cx="411480" cy="41148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29718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Immersive Technology Venture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5204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沉浸式技术风险投资团队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专注VR/AR/MR技术研发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推动铁路行业创新应用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连接初创企业与铁路场景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孵化前沿技术项目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365760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834640"/>
            <a:ext cx="3657600" cy="45720"/>
          </a:xfrm>
          <a:prstGeom prst="rect">
            <a:avLst>
              <a:gd name="adj" fmla="val 160000"/>
            </a:avLst>
          </a:prstGeom>
          <a:solidFill>
            <a:srgbClr val="E94560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3017520"/>
            <a:ext cx="411480" cy="4114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0" y="29718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Skydeck加速器计划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5204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DB集团创业加速器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对接全球创新生态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聚焦交通科技领域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已孵化多个成功项目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推动开放式创新文化</a:t>
            </a:r>
            <a:endParaRPr lang="en-US" sz="85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 Metaverse 发展历程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54864" cy="640080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6" name="Image 0" descr="/data/user/work/db_timeline_1200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868" y="914400"/>
            <a:ext cx="6102265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566160"/>
            <a:ext cx="11582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566160"/>
            <a:ext cx="115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931920"/>
            <a:ext cx="1158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EVE平台首次部署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981200" y="3566160"/>
            <a:ext cx="11582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981200" y="3566160"/>
            <a:ext cx="115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981200" y="3931920"/>
            <a:ext cx="1158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400万欧元投资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322320" y="3566160"/>
            <a:ext cx="11582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3322320" y="3566160"/>
            <a:ext cx="115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22320" y="3931920"/>
            <a:ext cx="1158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NVIDIA战略合作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63440" y="3566160"/>
            <a:ext cx="11582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3566160"/>
            <a:ext cx="115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63440" y="3931920"/>
            <a:ext cx="1158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照片级数字孪生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004560" y="3566160"/>
            <a:ext cx="11582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6004560" y="3566160"/>
            <a:ext cx="115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004560" y="3931920"/>
            <a:ext cx="1158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Unity技术展示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345680" y="3566160"/>
            <a:ext cx="11582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7345680" y="3566160"/>
            <a:ext cx="115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45680" y="3931920"/>
            <a:ext cx="1158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AR扩展计划</a:t>
            </a:r>
            <a:endParaRPr lang="en-US" sz="8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73152" cy="23774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系统方案总览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3840480"/>
            <a:ext cx="2743200" cy="3657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 Metaverse 三大应用领域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54864" cy="640080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6" name="Image 0" descr="/data/user/work/db_three_domains_9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3751"/>
            <a:ext cx="3840480" cy="32046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914400"/>
            <a:ext cx="384048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54880" y="914400"/>
            <a:ext cx="54864" cy="1097280"/>
          </a:xfrm>
          <a:prstGeom prst="rect">
            <a:avLst>
              <a:gd name="adj" fmla="val 100000"/>
            </a:avLst>
          </a:prstGeom>
          <a:solidFill>
            <a:srgbClr val="FF0000"/>
          </a:solidFill>
          <a:ln/>
        </p:spPr>
      </p:sp>
      <p:sp>
        <p:nvSpPr>
          <p:cNvPr id="9" name="Shape 6"/>
          <p:cNvSpPr/>
          <p:nvPr/>
        </p:nvSpPr>
        <p:spPr>
          <a:xfrm>
            <a:off x="4937760" y="10515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F0000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76072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员工培训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60720" y="1325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VR/AR沉浸式培训系统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EVE平台覆盖40+培训中心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10,000+活跃用户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54880" y="2194560"/>
            <a:ext cx="384048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2194560"/>
            <a:ext cx="54864" cy="1097280"/>
          </a:xfrm>
          <a:prstGeom prst="rect">
            <a:avLst>
              <a:gd name="adj" fmla="val 100000"/>
            </a:avLst>
          </a:prstGeom>
          <a:solidFill>
            <a:srgbClr val="0F3460"/>
          </a:solidFill>
          <a:ln/>
        </p:spPr>
      </p:sp>
      <p:sp>
        <p:nvSpPr>
          <p:cNvPr id="15" name="Shape 12"/>
          <p:cNvSpPr/>
          <p:nvPr/>
        </p:nvSpPr>
        <p:spPr>
          <a:xfrm>
            <a:off x="4937760" y="23317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F3460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6072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基础设施数字孪生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760720" y="2606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NVIDIA Omniverse驱动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铁路网照片级还原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实时数据同步与仿真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54880" y="3474720"/>
            <a:ext cx="3840480" cy="109728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3474720"/>
            <a:ext cx="54864" cy="1097280"/>
          </a:xfrm>
          <a:prstGeom prst="rect">
            <a:avLst>
              <a:gd name="adj" fmla="val 100000"/>
            </a:avLst>
          </a:prstGeom>
          <a:solidFill>
            <a:srgbClr val="16213E"/>
          </a:solidFill>
          <a:ln/>
        </p:spPr>
      </p:sp>
      <p:sp>
        <p:nvSpPr>
          <p:cNvPr id="21" name="Shape 18"/>
          <p:cNvSpPr/>
          <p:nvPr/>
        </p:nvSpPr>
        <p:spPr>
          <a:xfrm>
            <a:off x="4937760" y="361188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/>
        </p:spPr>
      </p:sp>
      <p:sp>
        <p:nvSpPr>
          <p:cNvPr id="22" name="Text 19"/>
          <p:cNvSpPr/>
          <p:nvPr/>
        </p:nvSpPr>
        <p:spPr>
          <a:xfrm>
            <a:off x="493776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760720" y="3566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乘客体验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760720" y="3886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AR导航与信息增强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车站室内定位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实时路线指引</a:t>
            </a:r>
            <a:endParaRPr lang="en-US" sz="85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系统业务覆盖范围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54864" cy="6400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180594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1805940" cy="36576"/>
          </a:xfrm>
          <a:prstGeom prst="rect">
            <a:avLst>
              <a:gd name="adj" fmla="val 150000"/>
            </a:avLst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223010" y="123444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122301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18059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长途客运 (ICE)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28900" y="1097280"/>
            <a:ext cx="180594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28900" y="1097280"/>
            <a:ext cx="1805940" cy="36576"/>
          </a:xfrm>
          <a:prstGeom prst="rect">
            <a:avLst>
              <a:gd name="adj" fmla="val 150000"/>
            </a:avLst>
          </a:prstGeom>
          <a:solidFill>
            <a:srgbClr val="FF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3303270" y="123444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330327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28900" y="1783080"/>
            <a:ext cx="18059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基础设施维护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180594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97280"/>
            <a:ext cx="1805940" cy="36576"/>
          </a:xfrm>
          <a:prstGeom prst="rect">
            <a:avLst>
              <a:gd name="adj" fmla="val 150000"/>
            </a:avLst>
          </a:prstGeom>
          <a:solidFill>
            <a:srgbClr val="FF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383530" y="123444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538353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09160" y="1783080"/>
            <a:ext cx="18059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货运物流 (DB Schenker)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89420" y="1097280"/>
            <a:ext cx="180594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89420" y="1097280"/>
            <a:ext cx="1805940" cy="36576"/>
          </a:xfrm>
          <a:prstGeom prst="rect">
            <a:avLst>
              <a:gd name="adj" fmla="val 150000"/>
            </a:avLst>
          </a:prstGeom>
          <a:solidFill>
            <a:srgbClr val="FF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463790" y="123444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746379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89420" y="1783080"/>
            <a:ext cx="18059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列车调度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2926080"/>
            <a:ext cx="180594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2926080"/>
            <a:ext cx="1805940" cy="36576"/>
          </a:xfrm>
          <a:prstGeom prst="rect">
            <a:avLst>
              <a:gd name="adj" fmla="val 150000"/>
            </a:avLst>
          </a:prstGeom>
          <a:solidFill>
            <a:srgbClr val="FF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223010" y="306324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122301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3611880"/>
            <a:ext cx="18059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车辆维修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28900" y="2926080"/>
            <a:ext cx="180594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28900" y="2926080"/>
            <a:ext cx="1805940" cy="36576"/>
          </a:xfrm>
          <a:prstGeom prst="rect">
            <a:avLst>
              <a:gd name="adj" fmla="val 150000"/>
            </a:avLst>
          </a:prstGeom>
          <a:solidFill>
            <a:srgbClr val="FF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3303270" y="306324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34" name="Text 32"/>
          <p:cNvSpPr/>
          <p:nvPr/>
        </p:nvSpPr>
        <p:spPr>
          <a:xfrm>
            <a:off x="330327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SV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628900" y="3611880"/>
            <a:ext cx="18059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乘客服务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926080"/>
            <a:ext cx="180594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926080"/>
            <a:ext cx="1805940" cy="36576"/>
          </a:xfrm>
          <a:prstGeom prst="rect">
            <a:avLst>
              <a:gd name="adj" fmla="val 150000"/>
            </a:avLst>
          </a:prstGeom>
          <a:solidFill>
            <a:srgbClr val="FF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5383530" y="306324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39" name="Text 37"/>
          <p:cNvSpPr/>
          <p:nvPr/>
        </p:nvSpPr>
        <p:spPr>
          <a:xfrm>
            <a:off x="538353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709160" y="3611880"/>
            <a:ext cx="18059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网络安全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89420" y="2926080"/>
            <a:ext cx="1805940" cy="1554480"/>
          </a:xfrm>
          <a:prstGeom prst="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89420" y="2926080"/>
            <a:ext cx="1805940" cy="36576"/>
          </a:xfrm>
          <a:prstGeom prst="rect">
            <a:avLst>
              <a:gd name="adj" fmla="val 150000"/>
            </a:avLst>
          </a:prstGeom>
          <a:solidFill>
            <a:srgbClr val="FF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7463790" y="3063240"/>
            <a:ext cx="457200" cy="4572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44" name="Text 42"/>
          <p:cNvSpPr/>
          <p:nvPr/>
        </p:nvSpPr>
        <p:spPr>
          <a:xfrm>
            <a:off x="746379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XR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89420" y="3611880"/>
            <a:ext cx="18059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XR技术研发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4297680"/>
            <a:ext cx="8046720" cy="457200"/>
          </a:xfrm>
          <a:prstGeom prst="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覆盖铁路运营全价值链 — 从长途客运到货运物流，从基础设施到乘客服务</a:t>
            </a:r>
            <a:endParaRPr lang="en-US" sz="100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73152" cy="23774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员工培训与专业发展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3840480"/>
            <a:ext cx="2743200" cy="3657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EVE平台 — VR培训系统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54864" cy="6400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14400"/>
            <a:ext cx="3657600" cy="3863340"/>
          </a:xfrm>
          <a:prstGeom prst="rect">
            <a:avLst>
              <a:gd name="adj" fmla="val 2000"/>
            </a:avLst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914400"/>
            <a:ext cx="54864" cy="3863340"/>
          </a:xfrm>
          <a:prstGeom prst="rect">
            <a:avLst>
              <a:gd name="adj" fmla="val 133333"/>
            </a:avLst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51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 Virtual Education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1783080"/>
            <a:ext cx="18288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196596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920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交互式3D学习仿真环境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224028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1945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自然动作记录与评估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8680" y="251460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24688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多场景培训模块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" y="278892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743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实时反馈与评分系统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8680" y="306324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0175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远程协作培训能力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914400"/>
            <a:ext cx="4023360" cy="3863340"/>
          </a:xfrm>
          <a:prstGeom prst="rect">
            <a:avLst>
              <a:gd name="adj" fmla="val 18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培训场景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13716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15087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ICE4轮椅升降机操作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28个标准步骤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交互式操作练习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21488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2148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列车编组连接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多车型编组仿真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安全规程培训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27889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780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车顶设备维护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高空作业模拟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安全防护训练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34290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0F3460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57800" y="3429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虚拟信号楼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578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信号系统操作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调度流程仿真</a:t>
            </a:r>
            <a:endParaRPr lang="en-US" sz="8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AR培训与Bahn360虚拟学习世界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54864" cy="6400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14400"/>
            <a:ext cx="3840480" cy="3863340"/>
          </a:xfrm>
          <a:prstGeom prst="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14400"/>
            <a:ext cx="3840480" cy="411480"/>
          </a:xfrm>
          <a:prstGeom prst="rect">
            <a:avLst>
              <a:gd name="adj" fmla="val 17778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VISCOPIC AR 培训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3D Durchblick — 透视设备内部结构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18745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4300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道岔驱动装置全息图展示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2860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360度旋转查看与交互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26974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4300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虚拟按钮触发操作动画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1089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AR眼镜实时叠加信息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3931920" cy="3863340"/>
          </a:xfrm>
          <a:prstGeom prst="rect">
            <a:avLst>
              <a:gd name="adj" fmla="val 18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914400"/>
            <a:ext cx="3931920" cy="411480"/>
          </a:xfrm>
          <a:prstGeom prst="rect">
            <a:avLst>
              <a:gd name="adj" fmla="val 17778"/>
            </a:avLst>
          </a:prstGeom>
          <a:solidFill>
            <a:srgbClr val="0F346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Bahn360 虚拟学习世界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14630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5780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360度全景沉浸式学习体验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18745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5780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125个交互式学习问题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2860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5780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标准Web浏览器直接访问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26974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5780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德语/英语双语支持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31089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5780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2026年AR扩展功能规划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3749040"/>
            <a:ext cx="3931920" cy="411480"/>
          </a:xfrm>
          <a:prstGeom prst="rect">
            <a:avLst>
              <a:gd name="adj" fmla="val 11111"/>
            </a:avLst>
          </a:prstGeom>
          <a:solidFill>
            <a:srgbClr val="F5F5F5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749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零硬件门槛 — 仅需浏览器即可开始学习</a:t>
            </a:r>
            <a:endParaRPr lang="en-US" sz="900" dirty="0"/>
          </a:p>
        </p:txBody>
      </p:sp>
      <p:sp>
        <p:nvSpPr>
          <p:cNvPr id="4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73152" cy="23774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基础设施数字孪生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3840480"/>
            <a:ext cx="2743200" cy="3657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铁路网数字孪生与Connected Factory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54864" cy="6400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14400"/>
            <a:ext cx="804672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14400"/>
            <a:ext cx="54864" cy="1828800"/>
          </a:xfrm>
          <a:prstGeom prst="rect">
            <a:avLst>
              <a:gd name="adj" fmla="val 133333"/>
            </a:avLst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DSD 铁路网数字孪生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280160"/>
            <a:ext cx="13716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14173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417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NVIDIA Omniverse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121408" y="14173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2121408" y="1417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照片级真实感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419856" y="14173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3419856" y="1417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汉堡/柏林线路还原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22960" y="178308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783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AutomatedTrain项目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121408" y="178308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2121408" y="1783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AI传感器训练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19856" y="178308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3419856" y="1783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合成数据生成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22960" y="21488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基于NVIDIA Omniverse构建的铁路基础设施数字孪生系统，实现照片级真实感渲染。汉堡至柏林线路完整还原，支持AutomatedTrain项目的自动驾驶仿真测试，为AI传感器提供合成训练数据。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2926080"/>
            <a:ext cx="8046720" cy="178308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926080"/>
            <a:ext cx="54864" cy="1783080"/>
          </a:xfrm>
          <a:prstGeom prst="rect">
            <a:avLst>
              <a:gd name="adj" fmla="val 133333"/>
            </a:avLst>
          </a:prstGeom>
          <a:solidFill>
            <a:srgbClr val="0F3460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Connected Factory 智能工厂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3291840"/>
            <a:ext cx="1371600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3429000"/>
            <a:ext cx="1737360" cy="1097280"/>
          </a:xfrm>
          <a:prstGeom prst="rect">
            <a:avLst>
              <a:gd name="adj" fmla="val 4167"/>
            </a:avLst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4747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BLE天线部署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97480" y="3429000"/>
            <a:ext cx="1737360" cy="1097280"/>
          </a:xfrm>
          <a:prstGeom prst="rect">
            <a:avLst>
              <a:gd name="adj" fmla="val 4167"/>
            </a:avLst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2697480" y="34747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ArcGIS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69748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Enterprise集成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3429000"/>
            <a:ext cx="1737360" cy="1097280"/>
          </a:xfrm>
          <a:prstGeom prst="rect">
            <a:avLst>
              <a:gd name="adj" fmla="val 4167"/>
            </a:avLst>
          </a:prstGeom>
          <a:solidFill>
            <a:srgbClr val="F5F5F5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34747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SAP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7200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ERP系统对接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46520" y="3429000"/>
            <a:ext cx="1737360" cy="1097280"/>
          </a:xfrm>
          <a:prstGeom prst="rect">
            <a:avLst>
              <a:gd name="adj" fmla="val 4167"/>
            </a:avLst>
          </a:prstGeom>
          <a:solidFill>
            <a:srgbClr val="F5F5F5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34747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cm级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4652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室内资产定位精度</a:t>
            </a:r>
            <a:endParaRPr lang="en-US" sz="8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73152" cy="23774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技术架构与路线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3840480"/>
            <a:ext cx="2743200" cy="3657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技术架构总览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54864" cy="640080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6" name="Image 0" descr="/data/user/work/db_tech_arch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300" y="868680"/>
            <a:ext cx="51054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206240"/>
            <a:ext cx="1828800" cy="640080"/>
          </a:xfrm>
          <a:prstGeom prst="rect">
            <a:avLst>
              <a:gd name="adj" fmla="val 7143"/>
            </a:avLst>
          </a:prstGeom>
          <a:solidFill>
            <a:srgbClr val="FF000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应用层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EVE / Bahn360 / AR导航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651760" y="4206240"/>
            <a:ext cx="1828800" cy="640080"/>
          </a:xfrm>
          <a:prstGeom prst="rect">
            <a:avLst>
              <a:gd name="adj" fmla="val 7143"/>
            </a:avLst>
          </a:prstGeom>
          <a:solidFill>
            <a:srgbClr val="0F3460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平台层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5176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Unity / Omniverse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663440" y="4206240"/>
            <a:ext cx="1828800" cy="640080"/>
          </a:xfrm>
          <a:prstGeom prst="rect">
            <a:avLst>
              <a:gd name="adj" fmla="val 7143"/>
            </a:avLst>
          </a:prstGeom>
          <a:solidFill>
            <a:srgbClr val="16213E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数据层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6344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USD / ArcGIS / SAP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675120" y="4206240"/>
            <a:ext cx="1828800" cy="640080"/>
          </a:xfrm>
          <a:prstGeom prst="rect">
            <a:avLst>
              <a:gd name="adj" fmla="val 7143"/>
            </a:avLst>
          </a:prstGeom>
          <a:solidFill>
            <a:srgbClr val="1A1A2E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基础设施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7512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CCCC"/>
                </a:solidFill>
              </a:rPr>
              <a:t>OVX / BLE / Cloud</a:t>
            </a:r>
            <a:endParaRPr lang="en-US" sz="75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双引擎策略与关键技术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54864" cy="6400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14400"/>
            <a:ext cx="384048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14400"/>
            <a:ext cx="3840480" cy="411480"/>
          </a:xfrm>
          <a:prstGeom prst="rect">
            <a:avLst>
              <a:gd name="adj" fmla="val 17778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Unity 引擎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VR/AR培训系统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178308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737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EVE平台核心引擎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10312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AR导航应用开发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42316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377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Bahn360全景渲染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384048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914400"/>
            <a:ext cx="3840480" cy="411480"/>
          </a:xfrm>
          <a:prstGeom prst="rect">
            <a:avLst>
              <a:gd name="adj" fmla="val 17778"/>
            </a:avLst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NVIDIA Omniverse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46304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铁路网数字孪生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178308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737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实时光线追踪渲染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210312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OVX高性能计算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42316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377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合成数据生成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4840" y="1645920"/>
            <a:ext cx="274320" cy="27432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43484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48640" y="3200400"/>
            <a:ext cx="8046720" cy="1554480"/>
          </a:xfrm>
          <a:prstGeom prst="rect">
            <a:avLst>
              <a:gd name="adj" fmla="val 4706"/>
            </a:avLst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关键技术清单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3520440"/>
            <a:ext cx="9144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36576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USD数据标准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304288" y="36576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/>
        </p:spPr>
      </p:sp>
      <p:sp>
        <p:nvSpPr>
          <p:cNvPr id="36" name="Text 34"/>
          <p:cNvSpPr/>
          <p:nvPr/>
        </p:nvSpPr>
        <p:spPr>
          <a:xfrm>
            <a:off x="2304288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BLE室内定位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77056" y="36576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38" name="Text 36"/>
          <p:cNvSpPr/>
          <p:nvPr/>
        </p:nvSpPr>
        <p:spPr>
          <a:xfrm>
            <a:off x="3877056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ArcGIS GeoEvent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9824" y="36576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F3460"/>
          </a:solidFill>
          <a:ln/>
        </p:spPr>
      </p:sp>
      <p:sp>
        <p:nvSpPr>
          <p:cNvPr id="40" name="Text 38"/>
          <p:cNvSpPr/>
          <p:nvPr/>
        </p:nvSpPr>
        <p:spPr>
          <a:xfrm>
            <a:off x="5449824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Omniverse Replicator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022592" y="36576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42" name="Text 40"/>
          <p:cNvSpPr/>
          <p:nvPr/>
        </p:nvSpPr>
        <p:spPr>
          <a:xfrm>
            <a:off x="7022592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MARV数据管理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31520" y="406908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Siemens JT格式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304288" y="406908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46" name="Text 44"/>
          <p:cNvSpPr/>
          <p:nvPr/>
        </p:nvSpPr>
        <p:spPr>
          <a:xfrm>
            <a:off x="2304288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Photogrammetry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877056" y="406908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48" name="Text 46"/>
          <p:cNvSpPr/>
          <p:nvPr/>
        </p:nvSpPr>
        <p:spPr>
          <a:xfrm>
            <a:off x="3877056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Cloud Rendering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49824" y="406908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/>
        </p:spPr>
      </p:sp>
      <p:sp>
        <p:nvSpPr>
          <p:cNvPr id="50" name="Text 48"/>
          <p:cNvSpPr/>
          <p:nvPr/>
        </p:nvSpPr>
        <p:spPr>
          <a:xfrm>
            <a:off x="5449824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WebXR标准</a:t>
            </a:r>
            <a:endParaRPr lang="en-US" sz="800" dirty="0"/>
          </a:p>
        </p:txBody>
      </p:sp>
      <p:sp>
        <p:nvSpPr>
          <p:cNvPr id="5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AI与数据技术栈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54864" cy="6400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14400"/>
            <a:ext cx="2560320" cy="37719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14400"/>
            <a:ext cx="2560320" cy="457200"/>
          </a:xfrm>
          <a:prstGeom prst="rect">
            <a:avLst>
              <a:gd name="adj" fmla="val 16000"/>
            </a:avLst>
          </a:prstGeom>
          <a:solidFill>
            <a:srgbClr val="FF00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/ ML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50876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计算机视觉识别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1801368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7556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障碍物检测系统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2093976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0482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预测性维护算法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2386584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3408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合成数据训练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2679192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6334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深度学习推理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5800" y="297180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实时异常检测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3264408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NLP语音交互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91840" y="914400"/>
            <a:ext cx="2560320" cy="37719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914400"/>
            <a:ext cx="2560320" cy="457200"/>
          </a:xfrm>
          <a:prstGeom prst="rect">
            <a:avLst>
              <a:gd name="adj" fmla="val 16000"/>
            </a:avLst>
          </a:prstGeom>
          <a:solidFill>
            <a:srgbClr val="0F3460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数据架构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29000" y="150876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USD统一数据框架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29000" y="1801368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17556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Siemens JT格式支持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29000" y="2093976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20482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高清3D地图数据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29000" y="2386584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23408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实时数据同步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29000" y="2679192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3611880" y="26334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SAP ERP集成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29000" y="297180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ArcGIS空间数据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29000" y="3264408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361188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BLE传感器网络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35040" y="914400"/>
            <a:ext cx="2560320" cy="37719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914400"/>
            <a:ext cx="2560320" cy="457200"/>
          </a:xfrm>
          <a:prstGeom prst="rect">
            <a:avLst>
              <a:gd name="adj" fmla="val 16000"/>
            </a:avLst>
          </a:prstGeom>
          <a:solidFill>
            <a:srgbClr val="16213E"/>
          </a:solidFill>
          <a:ln/>
        </p:spPr>
      </p:sp>
      <p:sp>
        <p:nvSpPr>
          <p:cNvPr id="42" name="Text 40"/>
          <p:cNvSpPr/>
          <p:nvPr/>
        </p:nvSpPr>
        <p:spPr>
          <a:xfrm>
            <a:off x="603504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XR 技术栈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72200" y="150876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VR头显设备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72200" y="1801368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17556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AR智能眼镜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72200" y="2093976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6355080" y="20482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平板监控终端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72200" y="2386584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23408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Android MR设备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72200" y="2679192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6355080" y="26334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WebXR浏览器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172200" y="297180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635508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手势识别交互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72200" y="3264408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56" name="Text 54"/>
          <p:cNvSpPr/>
          <p:nvPr/>
        </p:nvSpPr>
        <p:spPr>
          <a:xfrm>
            <a:off x="635508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空间锚点定位</a:t>
            </a:r>
            <a:endParaRPr lang="en-US" sz="850" dirty="0"/>
          </a:p>
        </p:txBody>
      </p:sp>
      <p:sp>
        <p:nvSpPr>
          <p:cNvPr id="5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73152" cy="23774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实施效果与成果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3840480"/>
            <a:ext cx="2743200" cy="3657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部署规模与业务成效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54864" cy="640080"/>
          </a:xfrm>
          <a:prstGeom prst="rect">
            <a:avLst/>
          </a:prstGeom>
          <a:solidFill>
            <a:srgbClr val="FF0000"/>
          </a:solidFill>
          <a:ln/>
        </p:spPr>
      </p:sp>
      <p:pic>
        <p:nvPicPr>
          <p:cNvPr id="6" name="Image 0" descr="/data/user/work/db_scale_900x6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2734147" cy="1828800"/>
          </a:xfrm>
          <a:prstGeom prst="rect">
            <a:avLst/>
          </a:prstGeom>
        </p:spPr>
      </p:pic>
      <p:pic>
        <p:nvPicPr>
          <p:cNvPr id="7" name="Image 1" descr="/data/user/work/db_efficiency_900x6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667" y="868680"/>
            <a:ext cx="2755557" cy="1828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880360"/>
            <a:ext cx="8046720" cy="1920240"/>
          </a:xfrm>
          <a:prstGeom prst="rect">
            <a:avLst>
              <a:gd name="adj" fmla="val 3810"/>
            </a:avLst>
          </a:prstGeom>
          <a:solidFill>
            <a:srgbClr val="F5F5F5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关键成果与荣誉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31520" y="3246120"/>
            <a:ext cx="13716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1" name="Shape 7"/>
          <p:cNvSpPr/>
          <p:nvPr/>
        </p:nvSpPr>
        <p:spPr>
          <a:xfrm>
            <a:off x="731520" y="3383280"/>
            <a:ext cx="178308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31520" y="3383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20x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31520" y="3749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仿真效率提升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606040" y="3383280"/>
            <a:ext cx="178308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606040" y="3383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4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40+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606040" y="3749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培训中心覆盖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480560" y="3383280"/>
            <a:ext cx="178308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480560" y="3383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10K+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480560" y="3749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活跃用户数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355080" y="3383280"/>
            <a:ext cx="178308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355080" y="3383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355080" y="3749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培训安全事故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731520" y="4160520"/>
            <a:ext cx="2407920" cy="502920"/>
          </a:xfrm>
          <a:prstGeom prst="roundRect">
            <a:avLst>
              <a:gd name="adj" fmla="val 9091"/>
            </a:avLst>
          </a:prstGeom>
          <a:solidFill>
            <a:srgbClr val="1A1A2E"/>
          </a:solidFill>
          <a:ln/>
        </p:spPr>
      </p:sp>
      <p:sp>
        <p:nvSpPr>
          <p:cNvPr id="24" name="Text 20"/>
          <p:cNvSpPr/>
          <p:nvPr/>
        </p:nvSpPr>
        <p:spPr>
          <a:xfrm>
            <a:off x="731520" y="4160520"/>
            <a:ext cx="240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Webby Awards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31520" y="4434840"/>
            <a:ext cx="240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人民选择奖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230880" y="4160520"/>
            <a:ext cx="2407920" cy="502920"/>
          </a:xfrm>
          <a:prstGeom prst="roundRect">
            <a:avLst>
              <a:gd name="adj" fmla="val 9091"/>
            </a:avLst>
          </a:prstGeom>
          <a:solidFill>
            <a:srgbClr val="1A1A2E"/>
          </a:solidFill>
          <a:ln/>
        </p:spPr>
      </p:sp>
      <p:sp>
        <p:nvSpPr>
          <p:cNvPr id="27" name="Text 23"/>
          <p:cNvSpPr/>
          <p:nvPr/>
        </p:nvSpPr>
        <p:spPr>
          <a:xfrm>
            <a:off x="3230880" y="4160520"/>
            <a:ext cx="240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德国数字奖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230880" y="4434840"/>
            <a:ext cx="240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铜奖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5730240" y="4160520"/>
            <a:ext cx="2407920" cy="502920"/>
          </a:xfrm>
          <a:prstGeom prst="roundRect">
            <a:avLst>
              <a:gd name="adj" fmla="val 9091"/>
            </a:avLst>
          </a:prstGeom>
          <a:solidFill>
            <a:srgbClr val="1A1A2E"/>
          </a:solidFill>
          <a:ln/>
        </p:spPr>
      </p:sp>
      <p:sp>
        <p:nvSpPr>
          <p:cNvPr id="30" name="Text 26"/>
          <p:cNvSpPr/>
          <p:nvPr/>
        </p:nvSpPr>
        <p:spPr>
          <a:xfrm>
            <a:off x="5730240" y="4160520"/>
            <a:ext cx="240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DELINA 2020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730240" y="4434840"/>
            <a:ext cx="240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创新奖</a:t>
            </a:r>
            <a:endParaRPr lang="en-US" sz="8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73152" cy="23774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97280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3840480"/>
            <a:ext cx="2743200" cy="3657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4114800"/>
            <a:ext cx="73152" cy="73152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核心结论与关键启示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4864"/>
            <a:ext cx="54864" cy="64008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14400"/>
            <a:ext cx="8046720" cy="6858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14400"/>
            <a:ext cx="54864" cy="685800"/>
          </a:xfrm>
          <a:prstGeom prst="rect">
            <a:avLst>
              <a:gd name="adj" fmla="val 100000"/>
            </a:avLst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0515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00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双引擎架构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12344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Unity + NVIDIA Omniverse双引擎策略，覆盖VR培训与数字孪生两大核心场景，实现技术优势互补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1709928"/>
            <a:ext cx="8046720" cy="6858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709928"/>
            <a:ext cx="54864" cy="685800"/>
          </a:xfrm>
          <a:prstGeom prst="rect">
            <a:avLst>
              <a:gd name="adj" fmla="val 100000"/>
            </a:avLst>
          </a:prstGeom>
          <a:solidFill>
            <a:srgbClr val="0F346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84708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847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1755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全业务覆盖闭环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2029968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从长途客运到货运物流，从基础设施到乘客服务，构建完整的铁路运营数字化生态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505456"/>
            <a:ext cx="8046720" cy="6858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505456"/>
            <a:ext cx="54864" cy="685800"/>
          </a:xfrm>
          <a:prstGeom prst="rect">
            <a:avLst>
              <a:gd name="adj" fmla="val 100000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264261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6426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25511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规模化部署标杆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2825496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40+培训中心、10,000+活跃用户，成为全球铁路行业最大规模XR部署案例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3300984"/>
            <a:ext cx="8046720" cy="6858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300984"/>
            <a:ext cx="54864" cy="685800"/>
          </a:xfrm>
          <a:prstGeom prst="rect">
            <a:avLst>
              <a:gd name="adj" fmla="val 100000"/>
            </a:avLst>
          </a:prstGeom>
          <a:solidFill>
            <a:srgbClr val="E94560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343814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9456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4381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33467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产学研深度合作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25880" y="3621024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与NVIDIA、Unity、VISCOPIC等科技巨头合作，结合Skydeck加速器推动开放式创新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4096512"/>
            <a:ext cx="8046720" cy="6858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4096512"/>
            <a:ext cx="54864" cy="685800"/>
          </a:xfrm>
          <a:prstGeom prst="rect">
            <a:avLst>
              <a:gd name="adj" fmla="val 100000"/>
            </a:avLst>
          </a:prstGeom>
          <a:solidFill>
            <a:srgbClr val="1A1A2E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520" y="423367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A1A2E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233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25880" y="4142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显著ROI回报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25880" y="441655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33333"/>
                </a:solidFill>
              </a:rPr>
              <a:t>20倍仿真效率提升、零安全事故培训、多项国际奖项认可，投资回报率行业领先</a:t>
            </a:r>
            <a:endParaRPr lang="en-US" sz="85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731520"/>
            <a:ext cx="1645920" cy="1645920"/>
          </a:xfrm>
          <a:prstGeom prst="ellipse">
            <a:avLst/>
          </a:prstGeom>
          <a:solidFill>
            <a:srgbClr val="0F3460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7315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498080" y="292608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292608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0" y="292608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0" y="292608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0" y="2926080"/>
            <a:ext cx="91440" cy="9144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3716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48640" y="24688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Danke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2743200" cy="3657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Metaverse — 连接虚拟与物理世界的铁路生态系统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</a:t>
            </a:r>
            <a:endParaRPr lang="en-US" sz="9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宋体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德国铁路DB Metaverse系统综合分析</dc:title>
  <dc:subject>PptxGenJS Presentation</dc:subject>
  <dc:creator>DB Metaverse Analysis</dc:creator>
  <cp:lastModifiedBy>DB Metaverse Analysis</cp:lastModifiedBy>
  <cp:revision>1</cp:revision>
  <dcterms:created xsi:type="dcterms:W3CDTF">2026-04-20T07:52:16Z</dcterms:created>
  <dcterms:modified xsi:type="dcterms:W3CDTF">2026-04-20T07:52:16Z</dcterms:modified>
</cp:coreProperties>
</file>