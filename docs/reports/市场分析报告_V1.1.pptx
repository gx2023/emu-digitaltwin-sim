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0"/>
            <a:ext cx="8229600" cy="18288"/>
          </a:xfrm>
          <a:prstGeom prst="rectangle">
            <a:avLst/>
          </a:prstGeom>
          <a:solidFill>
            <a:srgbClr val="20529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3200400" cy="3200400"/>
          </a:xfrm>
          <a:prstGeom prst="rectangle">
            <a:avLst>
              <a:gd name="adj" fmla="val 50000"/>
            </a:avLst>
          </a:prstGeom>
          <a:solidFill>
            <a:srgbClr val="144272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2743200"/>
            <a:ext cx="2286000" cy="2286000"/>
          </a:xfrm>
          <a:prstGeom prst="rectangle">
            <a:avLst>
              <a:gd name="adj" fmla="val 50000"/>
            </a:avLst>
          </a:prstGeom>
          <a:solidFill>
            <a:srgbClr val="20529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731520"/>
            <a:ext cx="2286000" cy="320040"/>
          </a:xfrm>
          <a:prstGeom prst="rectangle">
            <a:avLst>
              <a:gd name="adj" fmla="val 14286"/>
            </a:avLst>
          </a:prstGeom>
          <a:solidFill>
            <a:srgbClr val="E850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31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轨道交通数字孪生仿真系统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市场分析报告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动车组检修数字孪生仿真系统 · 市场研究与战略规划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竞品深度调研与技术路线分析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48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5156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2697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234440"/>
            <a:ext cx="18288" cy="6858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市场概览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数字孪生产业全景与驱动因素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51560"/>
            <a:ext cx="269748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1887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40480" y="1234440"/>
            <a:ext cx="18288" cy="685800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市场规模分析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全球与中国市场数据深度解读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51560"/>
            <a:ext cx="2697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1887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20840" y="1234440"/>
            <a:ext cx="18288" cy="685800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细分市场分析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检修仿真、城轨运维、培训模拟器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28600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286000"/>
            <a:ext cx="269748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423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0120" y="2468880"/>
            <a:ext cx="18288" cy="685800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竞品深度分析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17家企业6大维度全面对比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28600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286000"/>
            <a:ext cx="2697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2423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840480" y="2468880"/>
            <a:ext cx="18288" cy="6858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技术趋势分析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7764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技术成熟度与前沿应用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28600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286000"/>
            <a:ext cx="269748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2423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720840" y="2468880"/>
            <a:ext cx="18288" cy="685800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算法模型选型分析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7大类算法体系与选型策略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520440"/>
            <a:ext cx="2697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6576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960120" y="3703320"/>
            <a:ext cx="18288" cy="685800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48" name="Text 46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政策环境分析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国家与行业政策梳理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46120" y="352044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46120" y="3520440"/>
            <a:ext cx="269748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6576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840480" y="3703320"/>
            <a:ext cx="18288" cy="685800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54" name="Text 52"/>
          <p:cNvSpPr/>
          <p:nvPr/>
        </p:nvSpPr>
        <p:spPr>
          <a:xfrm>
            <a:off x="39776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市场机会与策略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97764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SWOT分析与进入策略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3520440"/>
            <a:ext cx="269748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26480" y="3520440"/>
            <a:ext cx="2697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8" name="Text 56"/>
          <p:cNvSpPr/>
          <p:nvPr/>
        </p:nvSpPr>
        <p:spPr>
          <a:xfrm>
            <a:off x="6217920" y="36576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6720840" y="3703320"/>
            <a:ext cx="18288" cy="6858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85800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核心结论与未来展望</a:t>
            </a:r>
            <a:endParaRPr lang="en-US" sz="90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市场概览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市场概览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数字孪生产业全景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产业链结构与轨道交通定位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8046720" cy="640080"/>
          </a:xfrm>
          <a:prstGeom prst="rectangle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80467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 (Digital Twin) 是物理实体的数字化映射，通过实时数据连接实现虚实同步、仿真预测与智能决策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2560320" cy="1645920"/>
          </a:xfrm>
          <a:prstGeom prst="rectangle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920240"/>
            <a:ext cx="25603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196596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上游：数据采集层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 · IoT设备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数据采集网关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边缘计算终端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560320" cy="1645920"/>
          </a:xfrm>
          <a:prstGeom prst="rectangle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920240"/>
            <a:ext cx="25603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196596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205295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中游：平台与软件层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数字孪生平台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仿真引擎 · 建模工具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AI/ML算法平台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920240"/>
            <a:ext cx="2560320" cy="1645920"/>
          </a:xfrm>
          <a:prstGeom prst="rectangle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920240"/>
            <a:ext cx="25603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196596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2C74B3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下游：应用场景层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 · 航空航天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智慧城市 · 智能制造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能源电力 · 医疗健康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064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804672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轨道交通是数字孪生下游应用的重要场景，动车组检修仿真系统处于中游平台与下游应用的交叉领域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市场概览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轨道交通数字化转型驱动因素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四大核心驱动力分析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97280"/>
            <a:ext cx="1874520" cy="3200400"/>
          </a:xfrm>
          <a:prstGeom prst="rectangle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97280"/>
            <a:ext cx="18745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" y="1234440"/>
            <a:ext cx="548640" cy="548640"/>
          </a:xfrm>
          <a:prstGeom prst="rectangle">
            <a:avLst>
              <a:gd name="adj" fmla="val 50000"/>
            </a:avLst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政策驱动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智能铁路2.0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423160"/>
            <a:ext cx="960120" cy="1828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146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《十四五铁路科技创新规划》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智能高铁2.0战略推进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数字中国建设整体布局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1097280"/>
            <a:ext cx="1874520" cy="3200400"/>
          </a:xfrm>
          <a:prstGeom prst="rectangle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097280"/>
            <a:ext cx="18745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0" name="Shape 18"/>
          <p:cNvSpPr/>
          <p:nvPr/>
        </p:nvSpPr>
        <p:spPr>
          <a:xfrm>
            <a:off x="3268980" y="1234440"/>
            <a:ext cx="548640" cy="548640"/>
          </a:xfrm>
          <a:prstGeom prst="rectangle">
            <a:avLst>
              <a:gd name="adj" fmla="val 50000"/>
            </a:avLst>
          </a:prstGeom>
          <a:solidFill>
            <a:srgbClr val="205295"/>
          </a:solidFill>
          <a:ln/>
        </p:spPr>
      </p:sp>
      <p:sp>
        <p:nvSpPr>
          <p:cNvPr id="21" name="Text 19"/>
          <p:cNvSpPr/>
          <p:nvPr/>
        </p:nvSpPr>
        <p:spPr>
          <a:xfrm>
            <a:off x="32689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技术驱动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21488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/ AI / IoT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2423160"/>
            <a:ext cx="960120" cy="18288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25146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5G低延迟通信赋能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AI视觉识别技术成熟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IoT传感器成本下降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1874520" cy="3200400"/>
          </a:xfrm>
          <a:prstGeom prst="rectangle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097280"/>
            <a:ext cx="18745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26380" y="1234440"/>
            <a:ext cx="548640" cy="548640"/>
          </a:xfrm>
          <a:prstGeom prst="rectangle">
            <a:avLst>
              <a:gd name="adj" fmla="val 50000"/>
            </a:avLst>
          </a:prstGeom>
          <a:solidFill>
            <a:srgbClr val="2C74B3"/>
          </a:solidFill>
          <a:ln/>
        </p:spPr>
      </p:sp>
      <p:sp>
        <p:nvSpPr>
          <p:cNvPr id="29" name="Text 27"/>
          <p:cNvSpPr/>
          <p:nvPr/>
        </p:nvSpPr>
        <p:spPr>
          <a:xfrm>
            <a:off x="53263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需求驱动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1488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保有量持续增长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2423160"/>
            <a:ext cx="960120" cy="18288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5146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动车组保有量超4000标准组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城轨运营里程突破1万公里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检修需求持续攀升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1097280"/>
            <a:ext cx="1874520" cy="3200400"/>
          </a:xfrm>
          <a:prstGeom prst="rectangle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20840" y="1097280"/>
            <a:ext cx="187452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6" name="Shape 34"/>
          <p:cNvSpPr/>
          <p:nvPr/>
        </p:nvSpPr>
        <p:spPr>
          <a:xfrm>
            <a:off x="7383780" y="1234440"/>
            <a:ext cx="548640" cy="548640"/>
          </a:xfrm>
          <a:prstGeom prst="rectangle">
            <a:avLst>
              <a:gd name="adj" fmla="val 50000"/>
            </a:avLst>
          </a:prstGeom>
          <a:solidFill>
            <a:srgbClr val="E8505B"/>
          </a:solidFill>
          <a:ln/>
        </p:spPr>
      </p:sp>
      <p:sp>
        <p:nvSpPr>
          <p:cNvPr id="37" name="Text 35"/>
          <p:cNvSpPr/>
          <p:nvPr/>
        </p:nvSpPr>
        <p:spPr>
          <a:xfrm>
            <a:off x="73837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122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效益驱动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12280" y="21488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降本增效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2423160"/>
            <a:ext cx="960120" cy="18288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25146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检修效率提升30%+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运维成本降低20%+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安全事故率显著下降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480560"/>
            <a:ext cx="8046720" cy="457200"/>
          </a:xfrm>
          <a:prstGeom prst="rectangle">
            <a:avLst>
              <a:gd name="adj" fmla="val 16000"/>
            </a:avLst>
          </a:prstGeom>
          <a:solidFill>
            <a:srgbClr val="0A2647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四大驱动力协同作用，推动轨道交通数字孪生仿真系统进入快速发展期</a:t>
            </a:r>
            <a:endParaRPr lang="en-US" sz="11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市场概览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市场发展历程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从探索期到成熟期的演进路径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60320"/>
            <a:ext cx="7680960" cy="36576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377440"/>
            <a:ext cx="365760" cy="365760"/>
          </a:xfrm>
          <a:prstGeom prst="rectangle">
            <a:avLst>
              <a:gd name="adj" fmla="val 50000"/>
            </a:avLst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探索期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46304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4630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63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数字孪生概念引入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铁路BIM标准启动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377440"/>
            <a:ext cx="365760" cy="365760"/>
          </a:xfrm>
          <a:prstGeom prst="rectangle">
            <a:avLst>
              <a:gd name="adj" fmla="val 50000"/>
            </a:avLst>
          </a:prstGeom>
          <a:solidFill>
            <a:srgbClr val="144272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起步期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146304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926080"/>
            <a:ext cx="146304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063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首个试点项目落地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5G铁路应用探索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377440"/>
            <a:ext cx="365760" cy="365760"/>
          </a:xfrm>
          <a:prstGeom prst="rectangle">
            <a:avLst>
              <a:gd name="adj" fmla="val 50000"/>
            </a:avLst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成长期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146304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26080"/>
            <a:ext cx="14630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063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智能铁路2.0发布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多个检修仿真项目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377440"/>
            <a:ext cx="365760" cy="365760"/>
          </a:xfrm>
          <a:prstGeom prst="rectangle">
            <a:avLst>
              <a:gd name="adj" fmla="val 50000"/>
            </a:avLst>
          </a:prstGeom>
          <a:solidFill>
            <a:srgbClr val="2C74B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加速期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926080"/>
            <a:ext cx="146304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83680" y="2926080"/>
            <a:ext cx="146304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063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AI深度融合应用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市场规模快速扩大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52560" y="2377440"/>
            <a:ext cx="365760" cy="365760"/>
          </a:xfrm>
          <a:prstGeom prst="rectangle">
            <a:avLst>
              <a:gd name="adj" fmla="val 50000"/>
            </a:avLst>
          </a:prstGeom>
          <a:solidFill>
            <a:srgbClr val="E8505B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41248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成熟期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2926080"/>
            <a:ext cx="146304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03920" y="2926080"/>
            <a:ext cx="146304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0" y="3063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平台化运营成熟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行业标准体系完善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市场规模分析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市场规模分析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全球数字孪生市场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轨道交通数字孪生系统全球市场规模与预测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global_market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02920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109728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0A2647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143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2024年市场规模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142646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14.59亿$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52160" y="210312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205295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1488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2031年预测规模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2160" y="243230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31.69亿$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852160" y="310896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E8505B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31546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CAGR增长率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2160" y="343814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11.7%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数据来源：MarketsandMarkets, Grand View Research</a:t>
            </a:r>
            <a:endParaRPr lang="en-US" sz="8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市场规模分析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中国数字孪生市场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国内市场规模快速增长趋势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market_size_bar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02920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109728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0A2647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143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2024年市场规模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142646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188亿元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52160" y="210312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205295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1488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2026年预测规模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2160" y="243230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400亿元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852160" y="3108960"/>
            <a:ext cx="1828800" cy="822960"/>
          </a:xfrm>
          <a:prstGeom prst="rectangle">
            <a:avLst>
              <a:gd name="adj" fmla="val 8889"/>
            </a:avLst>
          </a:prstGeom>
          <a:solidFill>
            <a:srgbClr val="E8505B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31546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年均增长率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2160" y="3438144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45%+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852160" y="4114800"/>
            <a:ext cx="1828800" cy="457200"/>
          </a:xfrm>
          <a:prstGeom prst="rectangle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中国增速远超全球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数据来源：IDC, 中国信通院</a:t>
            </a:r>
            <a:endParaRPr lang="en-US" sz="8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市场规模分析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交通运输行业数字孪生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2023年交通运输行业数字孪生市场结构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transport_market_pie_9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11480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37760" y="1097280"/>
            <a:ext cx="3657600" cy="3108960"/>
          </a:xfrm>
          <a:prstGeom prst="rectangle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097280"/>
            <a:ext cx="36576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市场结构要点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16459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2023年交通运输数字孪生市场规模达53.3亿元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铁路运输占比42%，为最大细分领域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城市轨道交通占比23%，增速最快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公路运输占比18%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航空运输占比12%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水运港口占比5%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数据来源：中国信通院</a:t>
            </a:r>
            <a:endParaRPr lang="en-US" sz="8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市场规模分析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轨道交通细分市场趋势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三大细分领域市场规模对比与增长预测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rail_market_trend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30352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35040" y="1097280"/>
            <a:ext cx="2560320" cy="310896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0" y="1097280"/>
            <a:ext cx="25603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细分领域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1645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检修仿真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15-25亿元，增速最快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2286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运维管理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2514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20-35亿元，规模最大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2926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培训模拟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3154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10-18亿元，稳定增长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17920" y="3474720"/>
            <a:ext cx="2194560" cy="548640"/>
          </a:xfrm>
          <a:prstGeom prst="rectangle">
            <a:avLst>
              <a:gd name="adj" fmla="val 8333"/>
            </a:avLst>
          </a:prstGeom>
          <a:solidFill>
            <a:srgbClr val="0A2647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3474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检修仿真CAGR超25%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为增长最快细分领域</a:t>
            </a:r>
            <a:endParaRPr lang="en-US" sz="9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市场规模分析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动车组保有量与检修需求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保有量增长驱动检修仿真市场需求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emu_fleet_growth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02920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1097280"/>
            <a:ext cx="2743200" cy="310896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097280"/>
            <a:ext cx="274320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关键数据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16459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动车组保有量突破4,000标准组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年均新造动车组300+组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一二级修每年超50万次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三级修周期为120万公里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检修市场规模超200亿元/年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仿真培训渗透率不足10%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4389120"/>
            <a:ext cx="8046720" cy="457200"/>
          </a:xfrm>
          <a:prstGeom prst="rectangle">
            <a:avLst>
              <a:gd name="adj" fmla="val 16000"/>
            </a:avLst>
          </a:prstGeom>
          <a:solidFill>
            <a:srgbClr val="0A264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保有量持续增长 + 检修需求刚性 = 检修仿真市场巨大潜力</a:t>
            </a:r>
            <a:endParaRPr lang="en-US" sz="11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细分市场分析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细分市场分析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动车组检修仿真市场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检修市场结构与仿真系统机会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crh_repair_cost_9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11480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37760" y="1097280"/>
            <a:ext cx="3657600" cy="3108960"/>
          </a:xfrm>
          <a:prstGeom prst="rectangle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097280"/>
            <a:ext cx="36576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20640" y="16459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一二级修占比55%，频次最高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检修仿真目标市场15-25亿元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当前仿真渗透率不足10%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数字化检修需求年增长30%+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动车组车型多样化增加复杂度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检修人员培训缺口约2万人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数据来源：中国铁路总公司检修统计</a:t>
            </a:r>
            <a:endParaRPr lang="en-US" sz="8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细分市场分析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城轨地铁运维仿真市场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城市轨道交通运维仿真市场分析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97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36245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10-18亿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06040" y="105156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205295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097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运营里程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36245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10,000+km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2C74B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97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城市数量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36245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E8505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097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年增长率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0840" y="136245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20%+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2011680"/>
            <a:ext cx="3840480" cy="2286000"/>
          </a:xfrm>
          <a:prstGeom prst="rectangle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011680"/>
            <a:ext cx="3840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主要市场参与者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25146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京投科技 - 地铁运维平台领先者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申通地铁 - 上海地铁数字化标杆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百度智能云 - AI+地铁运维方案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商汤科技 - 计算机视觉巡检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华为 - 5G+智慧城轨解决方案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011680"/>
            <a:ext cx="3931920" cy="2286000"/>
          </a:xfrm>
          <a:prstGeom prst="rectangle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11680"/>
            <a:ext cx="393192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市场特征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514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地铁运营里程年增800+公里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智能化运维改造需求旺盛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设备预测性维护成为刚需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数字孪生平台建设加速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多系统融合是核心挑战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细分市场分析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检修培训模拟器市场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培训模拟器细分市场结构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97280"/>
            <a:ext cx="1888236" cy="502920"/>
          </a:xfrm>
          <a:prstGeom prst="rectangle">
            <a:avLst>
              <a:gd name="adj" fmla="val 9091"/>
            </a:avLst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2528316" y="1097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驾驶模拟器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088136" cy="502920"/>
          </a:xfrm>
          <a:prstGeom prst="rectangle">
            <a:avLst>
              <a:gd name="adj" fmla="val 9091"/>
            </a:avLst>
          </a:prstGeom>
          <a:solidFill>
            <a:srgbClr val="205295"/>
          </a:solidFill>
          <a:ln/>
        </p:spPr>
      </p:sp>
      <p:sp>
        <p:nvSpPr>
          <p:cNvPr id="14" name="Text 12"/>
          <p:cNvSpPr/>
          <p:nvPr/>
        </p:nvSpPr>
        <p:spPr>
          <a:xfrm>
            <a:off x="1728216" y="1783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地铁培训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845820" cy="502920"/>
          </a:xfrm>
          <a:prstGeom prst="rectangle">
            <a:avLst>
              <a:gd name="adj" fmla="val 9091"/>
            </a:avLst>
          </a:prstGeom>
          <a:solidFill>
            <a:srgbClr val="2C74B3"/>
          </a:solidFill>
          <a:ln/>
        </p:spPr>
      </p:sp>
      <p:sp>
        <p:nvSpPr>
          <p:cNvPr id="17" name="Text 15"/>
          <p:cNvSpPr/>
          <p:nvPr/>
        </p:nvSpPr>
        <p:spPr>
          <a:xfrm>
            <a:off x="148590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检修培训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466344" cy="502920"/>
          </a:xfrm>
          <a:prstGeom prst="rectangle">
            <a:avLst>
              <a:gd name="adj" fmla="val 9804"/>
            </a:avLst>
          </a:prstGeom>
          <a:solidFill>
            <a:srgbClr val="144272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424" y="3154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应急演练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283464" cy="502920"/>
          </a:xfrm>
          <a:prstGeom prst="rectangle">
            <a:avLst>
              <a:gd name="adj" fmla="val 16129"/>
            </a:avLst>
          </a:prstGeom>
          <a:solidFill>
            <a:srgbClr val="666666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" y="38404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097280"/>
            <a:ext cx="2926080" cy="3108960"/>
          </a:xfrm>
          <a:prstGeom prst="rectangle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1097280"/>
            <a:ext cx="292608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市场趋势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164592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VR/AR培训快速增长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检修培训增速最快(35%+)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沉浸式体验成为标配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AI智能评估系统兴起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标准化培训教材需求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细分市场分析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设备运维数字孪生市场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PHM与预测性维护市场分析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97280"/>
            <a:ext cx="2560320" cy="274320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97280"/>
            <a:ext cx="25603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PHM系统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故障预测与健康管理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1783080"/>
            <a:ext cx="1645920" cy="1828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9202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实时状态监测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故障预警分析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寿命预测评估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维修决策支持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1828800" cy="411480"/>
          </a:xfrm>
          <a:prstGeom prst="rectangle">
            <a:avLst>
              <a:gd name="adj" fmla="val 17778"/>
            </a:avLst>
          </a:prstGeom>
          <a:solidFill>
            <a:srgbClr val="0A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375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456432"/>
            <a:ext cx="1828800" cy="226314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8-12亿元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7560" y="1097280"/>
            <a:ext cx="2560320" cy="274320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097280"/>
            <a:ext cx="25603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预测性维护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基于AI的智能维护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1783080"/>
            <a:ext cx="1645920" cy="18288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9202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机器学习模型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振动/温度分析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油液在线监测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智能诊断报告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03320" y="3291840"/>
            <a:ext cx="1828800" cy="411480"/>
          </a:xfrm>
          <a:prstGeom prst="rectangle">
            <a:avLst>
              <a:gd name="adj" fmla="val 17778"/>
            </a:avLst>
          </a:prstGeom>
          <a:solidFill>
            <a:srgbClr val="205295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33375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03320" y="3456432"/>
            <a:ext cx="1828800" cy="226314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5-8亿元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560320" cy="274320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97280"/>
            <a:ext cx="25603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设备状态监测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IoT+数字孪生融合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1783080"/>
            <a:ext cx="1645920" cy="18288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202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传感器网络部署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数据采集平台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可视化监控大屏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远程运维管理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3291840"/>
            <a:ext cx="1828800" cy="411480"/>
          </a:xfrm>
          <a:prstGeom prst="rectangle">
            <a:avLst>
              <a:gd name="adj" fmla="val 17778"/>
            </a:avLst>
          </a:prstGeom>
          <a:solidFill>
            <a:srgbClr val="2C74B3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3375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3456432"/>
            <a:ext cx="1828800" cy="226314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6-10亿元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8046720" cy="548640"/>
          </a:xfrm>
          <a:prstGeom prst="rectangle">
            <a:avLst>
              <a:gd name="adj" fmla="val 13333"/>
            </a:avLst>
          </a:prstGeom>
          <a:solidFill>
            <a:srgbClr val="0A264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设备运维数字孪生市场总规模约19-30亿元，增长潜力巨大</a:t>
            </a:r>
            <a:endParaRPr lang="en-US" sz="10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竞品深度分析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竞品调研范围与方法论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17家企业 · 6大调研维度 · 全方位深度分析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1828800" cy="777240"/>
          </a:xfrm>
          <a:prstGeom prst="rectangle">
            <a:avLst>
              <a:gd name="adj" fmla="val 9412"/>
            </a:avLst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97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调研企业数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362456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1051560"/>
            <a:ext cx="1828800" cy="777240"/>
          </a:xfrm>
          <a:prstGeom prst="rectangle">
            <a:avLst>
              <a:gd name="adj" fmla="val 9412"/>
            </a:avLst>
          </a:prstGeom>
          <a:solidFill>
            <a:srgbClr val="20529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097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调研维度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362456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6大维度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828800" cy="777240"/>
          </a:xfrm>
          <a:prstGeom prst="rectangle">
            <a:avLst>
              <a:gd name="adj" fmla="val 9412"/>
            </a:avLst>
          </a:prstGeom>
          <a:solidFill>
            <a:srgbClr val="2C74B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097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覆盖层级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1362456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国际+国内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83680" y="1051560"/>
            <a:ext cx="1828800" cy="777240"/>
          </a:xfrm>
          <a:prstGeom prst="rectangle">
            <a:avLst>
              <a:gd name="adj" fmla="val 9412"/>
            </a:avLst>
          </a:prstGeom>
          <a:solidFill>
            <a:srgbClr val="E850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097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调研周期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1362456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3个月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011680"/>
            <a:ext cx="12344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产品功能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核心功能覆盖度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场景支持能力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202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920240" y="2011680"/>
            <a:ext cx="12344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9" name="Text 27"/>
          <p:cNvSpPr/>
          <p:nvPr/>
        </p:nvSpPr>
        <p:spPr>
          <a:xfrm>
            <a:off x="19202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9202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659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3D引擎选型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AI框架与算法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011680"/>
            <a:ext cx="123444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918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核心算法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仿真/优化/AI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算法成熟度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011680"/>
            <a:ext cx="123444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6634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客户案例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行业标杆案例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客户满意度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2011680"/>
            <a:ext cx="1234440" cy="54864"/>
          </a:xfrm>
          <a:prstGeom prst="rectangle">
            <a:avLst/>
          </a:prstGeom>
          <a:solidFill>
            <a:srgbClr val="F39C12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350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部署方式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云端/本地/混合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私有化能力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06640" y="2011680"/>
            <a:ext cx="1234440" cy="1645920"/>
          </a:xfrm>
          <a:prstGeom prst="rectangle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06640" y="2011680"/>
            <a:ext cx="123444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4066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竞争优势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52360" y="26974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差异化定位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市场壁垒分析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3840480"/>
            <a:ext cx="8046720" cy="731520"/>
          </a:xfrm>
          <a:prstGeom prst="rectangle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" y="3840480"/>
            <a:ext cx="80467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调研范围: 国际厂商(西门子/达索/Bentley/ANSYS) | 装备龙头(中车/通号) | 科研机构(铁科院) | 科技企业(华为/百度/商汤/卡斯柯) | 工业平台(中控/天泽智云)</a:t>
            </a:r>
            <a:endParaRPr lang="en-US" sz="900" dirty="0"/>
          </a:p>
        </p:txBody>
      </p:sp>
      <p:sp>
        <p:nvSpPr>
          <p:cNvPr id="5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竞品能力矩阵总览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17家企业核心能力对比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005840"/>
            <a:ext cx="118872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05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6304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部件检修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8600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0896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设计辅助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3192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生产调度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77840" y="1005840"/>
            <a:ext cx="82296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914400" cy="29260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005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1298448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" y="129844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西门子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46304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49047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31343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0896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13639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93192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95935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5488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77840" y="129844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605272" y="129844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多物理场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0" y="1298448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28232" y="129844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私有/混合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" y="1554480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" y="155448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达索系统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46304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5" name="Text 43"/>
          <p:cNvSpPr/>
          <p:nvPr/>
        </p:nvSpPr>
        <p:spPr>
          <a:xfrm>
            <a:off x="149047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7" name="Text 45"/>
          <p:cNvSpPr/>
          <p:nvPr/>
        </p:nvSpPr>
        <p:spPr>
          <a:xfrm>
            <a:off x="231343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0896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313639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93192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1" name="Text 49"/>
          <p:cNvSpPr/>
          <p:nvPr/>
        </p:nvSpPr>
        <p:spPr>
          <a:xfrm>
            <a:off x="395935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5488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3" name="Text 51"/>
          <p:cNvSpPr/>
          <p:nvPr/>
        </p:nvSpPr>
        <p:spPr>
          <a:xfrm>
            <a:off x="478231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77840" y="155448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5605272" y="155448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多体动力学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400800" y="1554480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7" name="Text 55"/>
          <p:cNvSpPr/>
          <p:nvPr/>
        </p:nvSpPr>
        <p:spPr>
          <a:xfrm>
            <a:off x="6428232" y="155448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私有云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74320" y="1810512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01752" y="181051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Bentley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46304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49047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8600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31343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10896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13639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93192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95935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75488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78231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77840" y="181051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5605272" y="181051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BIM+GIS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00800" y="1810512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6428232" y="1810512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74320" y="2066544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301752" y="206654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46304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149047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28600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231343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10896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1" name="Text 79"/>
          <p:cNvSpPr/>
          <p:nvPr/>
        </p:nvSpPr>
        <p:spPr>
          <a:xfrm>
            <a:off x="313639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93192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3" name="Text 81"/>
          <p:cNvSpPr/>
          <p:nvPr/>
        </p:nvSpPr>
        <p:spPr>
          <a:xfrm>
            <a:off x="395935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75488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5" name="Text 83"/>
          <p:cNvSpPr/>
          <p:nvPr/>
        </p:nvSpPr>
        <p:spPr>
          <a:xfrm>
            <a:off x="478231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577840" y="2066544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7" name="Text 85"/>
          <p:cNvSpPr/>
          <p:nvPr/>
        </p:nvSpPr>
        <p:spPr>
          <a:xfrm>
            <a:off x="5605272" y="206654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有限元仿真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400800" y="2066544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9" name="Text 87"/>
          <p:cNvSpPr/>
          <p:nvPr/>
        </p:nvSpPr>
        <p:spPr>
          <a:xfrm>
            <a:off x="6428232" y="2066544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74320" y="2322576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301752" y="2322576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中国中车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46304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149047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228600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231343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310896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313639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93192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395935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75488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478231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577840" y="2322576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5605272" y="23225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400800" y="2322576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28232" y="2322576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274320" y="2578608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07" name="Text 105"/>
          <p:cNvSpPr/>
          <p:nvPr/>
        </p:nvSpPr>
        <p:spPr>
          <a:xfrm>
            <a:off x="301752" y="257860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铁科院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46304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09" name="Text 107"/>
          <p:cNvSpPr/>
          <p:nvPr/>
        </p:nvSpPr>
        <p:spPr>
          <a:xfrm>
            <a:off x="149047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228600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1" name="Text 109"/>
          <p:cNvSpPr/>
          <p:nvPr/>
        </p:nvSpPr>
        <p:spPr>
          <a:xfrm>
            <a:off x="231343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10896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3" name="Text 111"/>
          <p:cNvSpPr/>
          <p:nvPr/>
        </p:nvSpPr>
        <p:spPr>
          <a:xfrm>
            <a:off x="313639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393192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5" name="Text 113"/>
          <p:cNvSpPr/>
          <p:nvPr/>
        </p:nvSpPr>
        <p:spPr>
          <a:xfrm>
            <a:off x="395935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75488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7" name="Text 115"/>
          <p:cNvSpPr/>
          <p:nvPr/>
        </p:nvSpPr>
        <p:spPr>
          <a:xfrm>
            <a:off x="478231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577840" y="2578608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9" name="Text 117"/>
          <p:cNvSpPr/>
          <p:nvPr/>
        </p:nvSpPr>
        <p:spPr>
          <a:xfrm>
            <a:off x="5605272" y="257860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6400800" y="2578608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21" name="Text 119"/>
          <p:cNvSpPr/>
          <p:nvPr/>
        </p:nvSpPr>
        <p:spPr>
          <a:xfrm>
            <a:off x="6428232" y="257860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274320" y="2834640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3" name="Text 121"/>
          <p:cNvSpPr/>
          <p:nvPr/>
        </p:nvSpPr>
        <p:spPr>
          <a:xfrm>
            <a:off x="301752" y="283464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中国通号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46304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5" name="Text 123"/>
          <p:cNvSpPr/>
          <p:nvPr/>
        </p:nvSpPr>
        <p:spPr>
          <a:xfrm>
            <a:off x="149047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8600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7" name="Text 125"/>
          <p:cNvSpPr/>
          <p:nvPr/>
        </p:nvSpPr>
        <p:spPr>
          <a:xfrm>
            <a:off x="231343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310896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9" name="Text 127"/>
          <p:cNvSpPr/>
          <p:nvPr/>
        </p:nvSpPr>
        <p:spPr>
          <a:xfrm>
            <a:off x="313639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393192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395935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475488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33" name="Text 131"/>
          <p:cNvSpPr/>
          <p:nvPr/>
        </p:nvSpPr>
        <p:spPr>
          <a:xfrm>
            <a:off x="478231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577840" y="2834640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35" name="Text 133"/>
          <p:cNvSpPr/>
          <p:nvPr/>
        </p:nvSpPr>
        <p:spPr>
          <a:xfrm>
            <a:off x="5605272" y="283464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信号控制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6400800" y="2834640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37" name="Text 135"/>
          <p:cNvSpPr/>
          <p:nvPr/>
        </p:nvSpPr>
        <p:spPr>
          <a:xfrm>
            <a:off x="6428232" y="283464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74320" y="3090672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39" name="Text 137"/>
          <p:cNvSpPr/>
          <p:nvPr/>
        </p:nvSpPr>
        <p:spPr>
          <a:xfrm>
            <a:off x="301752" y="309067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卡斯柯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146304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41" name="Text 139"/>
          <p:cNvSpPr/>
          <p:nvPr/>
        </p:nvSpPr>
        <p:spPr>
          <a:xfrm>
            <a:off x="149047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228600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43" name="Text 141"/>
          <p:cNvSpPr/>
          <p:nvPr/>
        </p:nvSpPr>
        <p:spPr>
          <a:xfrm>
            <a:off x="231343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310896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45" name="Text 143"/>
          <p:cNvSpPr/>
          <p:nvPr/>
        </p:nvSpPr>
        <p:spPr>
          <a:xfrm>
            <a:off x="313639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393192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47" name="Text 145"/>
          <p:cNvSpPr/>
          <p:nvPr/>
        </p:nvSpPr>
        <p:spPr>
          <a:xfrm>
            <a:off x="395935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75488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49" name="Text 147"/>
          <p:cNvSpPr/>
          <p:nvPr/>
        </p:nvSpPr>
        <p:spPr>
          <a:xfrm>
            <a:off x="478231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577840" y="3090672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51" name="Text 149"/>
          <p:cNvSpPr/>
          <p:nvPr/>
        </p:nvSpPr>
        <p:spPr>
          <a:xfrm>
            <a:off x="5605272" y="30906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调度优化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6400800" y="3090672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28232" y="3090672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274320" y="3346704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55" name="Text 153"/>
          <p:cNvSpPr/>
          <p:nvPr/>
        </p:nvSpPr>
        <p:spPr>
          <a:xfrm>
            <a:off x="301752" y="334670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146304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57" name="Text 155"/>
          <p:cNvSpPr/>
          <p:nvPr/>
        </p:nvSpPr>
        <p:spPr>
          <a:xfrm>
            <a:off x="149047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228600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59" name="Text 157"/>
          <p:cNvSpPr/>
          <p:nvPr/>
        </p:nvSpPr>
        <p:spPr>
          <a:xfrm>
            <a:off x="231343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310896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61" name="Text 159"/>
          <p:cNvSpPr/>
          <p:nvPr/>
        </p:nvSpPr>
        <p:spPr>
          <a:xfrm>
            <a:off x="313639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393192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63" name="Text 161"/>
          <p:cNvSpPr/>
          <p:nvPr/>
        </p:nvSpPr>
        <p:spPr>
          <a:xfrm>
            <a:off x="395935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475488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65" name="Text 163"/>
          <p:cNvSpPr/>
          <p:nvPr/>
        </p:nvSpPr>
        <p:spPr>
          <a:xfrm>
            <a:off x="478231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5577840" y="3346704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67" name="Text 165"/>
          <p:cNvSpPr/>
          <p:nvPr/>
        </p:nvSpPr>
        <p:spPr>
          <a:xfrm>
            <a:off x="5605272" y="33467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AI大模型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6400800" y="3346704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69" name="Text 167"/>
          <p:cNvSpPr/>
          <p:nvPr/>
        </p:nvSpPr>
        <p:spPr>
          <a:xfrm>
            <a:off x="6428232" y="3346704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公有云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74320" y="3602736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71" name="Text 169"/>
          <p:cNvSpPr/>
          <p:nvPr/>
        </p:nvSpPr>
        <p:spPr>
          <a:xfrm>
            <a:off x="301752" y="3602736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商汤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146304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73" name="Text 171"/>
          <p:cNvSpPr/>
          <p:nvPr/>
        </p:nvSpPr>
        <p:spPr>
          <a:xfrm>
            <a:off x="149047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28600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75" name="Text 173"/>
          <p:cNvSpPr/>
          <p:nvPr/>
        </p:nvSpPr>
        <p:spPr>
          <a:xfrm>
            <a:off x="231343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310896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77" name="Text 175"/>
          <p:cNvSpPr/>
          <p:nvPr/>
        </p:nvSpPr>
        <p:spPr>
          <a:xfrm>
            <a:off x="313639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393192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79" name="Text 177"/>
          <p:cNvSpPr/>
          <p:nvPr/>
        </p:nvSpPr>
        <p:spPr>
          <a:xfrm>
            <a:off x="395935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475488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81" name="Text 179"/>
          <p:cNvSpPr/>
          <p:nvPr/>
        </p:nvSpPr>
        <p:spPr>
          <a:xfrm>
            <a:off x="478231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5577840" y="3602736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83" name="Text 181"/>
          <p:cNvSpPr/>
          <p:nvPr/>
        </p:nvSpPr>
        <p:spPr>
          <a:xfrm>
            <a:off x="5605272" y="360273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视觉AI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6400800" y="3602736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85" name="Text 183"/>
          <p:cNvSpPr/>
          <p:nvPr/>
        </p:nvSpPr>
        <p:spPr>
          <a:xfrm>
            <a:off x="6428232" y="3602736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公有云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74320" y="3858768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87" name="Text 185"/>
          <p:cNvSpPr/>
          <p:nvPr/>
        </p:nvSpPr>
        <p:spPr>
          <a:xfrm>
            <a:off x="301752" y="385876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华为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146304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89" name="Text 187"/>
          <p:cNvSpPr/>
          <p:nvPr/>
        </p:nvSpPr>
        <p:spPr>
          <a:xfrm>
            <a:off x="149047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228600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91" name="Text 189"/>
          <p:cNvSpPr/>
          <p:nvPr/>
        </p:nvSpPr>
        <p:spPr>
          <a:xfrm>
            <a:off x="231343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310896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93" name="Text 191"/>
          <p:cNvSpPr/>
          <p:nvPr/>
        </p:nvSpPr>
        <p:spPr>
          <a:xfrm>
            <a:off x="313639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393192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95" name="Text 193"/>
          <p:cNvSpPr/>
          <p:nvPr/>
        </p:nvSpPr>
        <p:spPr>
          <a:xfrm>
            <a:off x="395935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475488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97" name="Text 195"/>
          <p:cNvSpPr/>
          <p:nvPr/>
        </p:nvSpPr>
        <p:spPr>
          <a:xfrm>
            <a:off x="478231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5577840" y="3858768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99" name="Text 197"/>
          <p:cNvSpPr/>
          <p:nvPr/>
        </p:nvSpPr>
        <p:spPr>
          <a:xfrm>
            <a:off x="5605272" y="385876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IoT平台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6400800" y="3858768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01" name="Text 199"/>
          <p:cNvSpPr/>
          <p:nvPr/>
        </p:nvSpPr>
        <p:spPr>
          <a:xfrm>
            <a:off x="6428232" y="385876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混合云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274320" y="4114800"/>
            <a:ext cx="118872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03" name="Text 201"/>
          <p:cNvSpPr/>
          <p:nvPr/>
        </p:nvSpPr>
        <p:spPr>
          <a:xfrm>
            <a:off x="301752" y="411480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中控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146304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05" name="Text 203"/>
          <p:cNvSpPr/>
          <p:nvPr/>
        </p:nvSpPr>
        <p:spPr>
          <a:xfrm>
            <a:off x="149047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228600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07" name="Text 205"/>
          <p:cNvSpPr/>
          <p:nvPr/>
        </p:nvSpPr>
        <p:spPr>
          <a:xfrm>
            <a:off x="231343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310896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09" name="Text 207"/>
          <p:cNvSpPr/>
          <p:nvPr/>
        </p:nvSpPr>
        <p:spPr>
          <a:xfrm>
            <a:off x="313639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393192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11" name="Text 209"/>
          <p:cNvSpPr/>
          <p:nvPr/>
        </p:nvSpPr>
        <p:spPr>
          <a:xfrm>
            <a:off x="395935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475488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13" name="Text 211"/>
          <p:cNvSpPr/>
          <p:nvPr/>
        </p:nvSpPr>
        <p:spPr>
          <a:xfrm>
            <a:off x="478231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5577840" y="4114800"/>
            <a:ext cx="82296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15" name="Text 213"/>
          <p:cNvSpPr/>
          <p:nvPr/>
        </p:nvSpPr>
        <p:spPr>
          <a:xfrm>
            <a:off x="5605272" y="4114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工业优化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6400800" y="4114800"/>
            <a:ext cx="914400" cy="256032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17" name="Text 215"/>
          <p:cNvSpPr/>
          <p:nvPr/>
        </p:nvSpPr>
        <p:spPr>
          <a:xfrm>
            <a:off x="6428232" y="411480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私有/混合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274320" y="4370832"/>
            <a:ext cx="118872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19" name="Text 217"/>
          <p:cNvSpPr/>
          <p:nvPr/>
        </p:nvSpPr>
        <p:spPr>
          <a:xfrm>
            <a:off x="301752" y="437083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天泽智云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146304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1" name="Text 219"/>
          <p:cNvSpPr/>
          <p:nvPr/>
        </p:nvSpPr>
        <p:spPr>
          <a:xfrm>
            <a:off x="149047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22" name="Shape 220"/>
          <p:cNvSpPr/>
          <p:nvPr/>
        </p:nvSpPr>
        <p:spPr>
          <a:xfrm>
            <a:off x="228600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3" name="Text 221"/>
          <p:cNvSpPr/>
          <p:nvPr/>
        </p:nvSpPr>
        <p:spPr>
          <a:xfrm>
            <a:off x="231343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24" name="Shape 222"/>
          <p:cNvSpPr/>
          <p:nvPr/>
        </p:nvSpPr>
        <p:spPr>
          <a:xfrm>
            <a:off x="310896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5" name="Text 223"/>
          <p:cNvSpPr/>
          <p:nvPr/>
        </p:nvSpPr>
        <p:spPr>
          <a:xfrm>
            <a:off x="313639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26" name="Shape 224"/>
          <p:cNvSpPr/>
          <p:nvPr/>
        </p:nvSpPr>
        <p:spPr>
          <a:xfrm>
            <a:off x="393192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7" name="Text 225"/>
          <p:cNvSpPr/>
          <p:nvPr/>
        </p:nvSpPr>
        <p:spPr>
          <a:xfrm>
            <a:off x="395935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28" name="Shape 226"/>
          <p:cNvSpPr/>
          <p:nvPr/>
        </p:nvSpPr>
        <p:spPr>
          <a:xfrm>
            <a:off x="475488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9" name="Text 227"/>
          <p:cNvSpPr/>
          <p:nvPr/>
        </p:nvSpPr>
        <p:spPr>
          <a:xfrm>
            <a:off x="478231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700" dirty="0"/>
          </a:p>
        </p:txBody>
      </p:sp>
      <p:sp>
        <p:nvSpPr>
          <p:cNvPr id="230" name="Shape 228"/>
          <p:cNvSpPr/>
          <p:nvPr/>
        </p:nvSpPr>
        <p:spPr>
          <a:xfrm>
            <a:off x="5577840" y="4370832"/>
            <a:ext cx="82296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31" name="Text 229"/>
          <p:cNvSpPr/>
          <p:nvPr/>
        </p:nvSpPr>
        <p:spPr>
          <a:xfrm>
            <a:off x="5605272" y="43708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</a:t>
            </a:r>
            <a:endParaRPr lang="en-US" sz="700" dirty="0"/>
          </a:p>
        </p:txBody>
      </p:sp>
      <p:sp>
        <p:nvSpPr>
          <p:cNvPr id="232" name="Shape 230"/>
          <p:cNvSpPr/>
          <p:nvPr/>
        </p:nvSpPr>
        <p:spPr>
          <a:xfrm>
            <a:off x="6400800" y="4370832"/>
            <a:ext cx="914400" cy="256032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33" name="Text 231"/>
          <p:cNvSpPr/>
          <p:nvPr/>
        </p:nvSpPr>
        <p:spPr>
          <a:xfrm>
            <a:off x="6428232" y="4370832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700" dirty="0"/>
          </a:p>
        </p:txBody>
      </p:sp>
      <p:sp>
        <p:nvSpPr>
          <p:cNvPr id="234" name="Text 232"/>
          <p:cNvSpPr/>
          <p:nvPr/>
        </p:nvSpPr>
        <p:spPr>
          <a:xfrm>
            <a:off x="27432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支持    ○ = 不支持/弱支持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5029200" y="4343400"/>
            <a:ext cx="3749040" cy="411480"/>
          </a:xfrm>
          <a:prstGeom prst="rectangle">
            <a:avLst>
              <a:gd name="adj" fmla="val 11111"/>
            </a:avLst>
          </a:prstGeom>
          <a:solidFill>
            <a:srgbClr val="E8505B"/>
          </a:solidFill>
          <a:ln/>
        </p:spPr>
      </p:sp>
      <p:sp>
        <p:nvSpPr>
          <p:cNvPr id="236" name="Text 234"/>
          <p:cNvSpPr/>
          <p:nvPr/>
        </p:nvSpPr>
        <p:spPr>
          <a:xfrm>
            <a:off x="502920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关键发现: 无厂商同时支持全部4大核心场景</a:t>
            </a:r>
            <a:endParaRPr lang="en-US" sz="900" dirty="0"/>
          </a:p>
        </p:txBody>
      </p:sp>
      <p:sp>
        <p:nvSpPr>
          <p:cNvPr id="2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国际厂商 - 西门子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Xcelerator / Tecnomatix / Plant Simulation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Xcelerator开放数字业务平台 | Tecnomatix制造仿真 | Plant Simulation物流仿真 | MindSphere IoT平台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3D引擎: JT/PARASOLID自研 | AI: 内置ML模块 | 部署: 私有化+混合云 | 数据: OPC UA标准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核心算法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多物理场耦合仿真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离散事件仿真(DES)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机器人路径规划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产线平衡优化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客户案例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德国铁路DB数字化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阿尔斯通产线仿真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中车四方产线优化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上海地铁信号系统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完整工业软件产品线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全球领先仿真积累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轨道交通经验丰富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开放平台生态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3520440"/>
            <a:ext cx="274320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520440"/>
            <a:ext cx="274320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611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劣势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价格高昂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本地化弱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定制化响应慢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数据安全合规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全球市占率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73736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05295"/>
          </a:solidFill>
          <a:ln/>
        </p:spPr>
      </p:sp>
      <p:sp>
        <p:nvSpPr>
          <p:cNvPr id="38" name="Text 36"/>
          <p:cNvSpPr/>
          <p:nvPr/>
        </p:nvSpPr>
        <p:spPr>
          <a:xfrm>
            <a:off x="173736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铁路客户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C74B3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50+模块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66344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144272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私有/混合</a:t>
            </a:r>
            <a:endParaRPr lang="en-US" sz="1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国际厂商 - 达索系统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 / DELMIA Quintiq / Simpack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3DEXPERIENCE统一平台 | DELMIA制造仿真 | Quintiq高级计划排程 | Simpack多体动力学 | CATIA设计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3D引擎: CGM自研几何内核 | AI: 内置仿真优化 | 部署: 云原生(ENOVIA) | 数据: FIPS标准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核心算法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多体动力学仿真(Simpack)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约束规划(CP)排程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有限元分析(Abaqus)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流体力学仿真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客户案例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庞巴迪列车设计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阿尔斯通转向架仿真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中车长客三维设计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空客制造仿真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航空市占率85%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全生命周期覆盖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仿真分析最强大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平台化能力强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3520440"/>
            <a:ext cx="274320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520440"/>
            <a:ext cx="274320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611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劣势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价格极高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实施周期长(1-2年)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学习曲线陡峭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检修场景覆盖弱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航空市占率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73736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05295"/>
          </a:solidFill>
          <a:ln/>
        </p:spPr>
      </p:sp>
      <p:sp>
        <p:nvSpPr>
          <p:cNvPr id="38" name="Text 36"/>
          <p:cNvSpPr/>
          <p:nvPr/>
        </p:nvSpPr>
        <p:spPr>
          <a:xfrm>
            <a:off x="173736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铁路客户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C74B3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仿真精度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行业顶级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66344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144272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私有云</a:t>
            </a:r>
            <a:endParaRPr lang="en-US" sz="1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国际厂商 - Bentley &amp; ANSYS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iTwin平台 &amp; Twin Builder数字孪生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2011680"/>
          </a:xfrm>
          <a:prstGeom prst="rectangle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Bentley Systems - iTwin平台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 iTwin开放数字孪生平台 | OpenBuildings | OpenRail | SYNCHRO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基础设施领域绝对领先，桥梁/隧道/轨道应用广泛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BIM+GIS深度融合，支持iModel.js开源SDK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中国基建项目参与度高，开放生态策略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核心算法: BIM碰撞检测、4D施工模拟、GIS空间分析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劣势: 轨道交通检修领域布局较少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06240" cy="2011680"/>
          </a:xfrm>
          <a:prstGeom prst="rectangle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ANSYS - Twin Builder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 Twin Builder数字孪生 | Fluent | Mechanical | Granta 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工程仿真领域全球第一，有限元分析绝对领先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Builder支持降阶模型(ROM)快速仿真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多物理场耦合: 热-力-流-电磁联合仿真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核心算法: FEA/CFD/ROM/优化算法，精度行业顶级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劣势: 偏工程分析，缺乏段厂调度和检修流程仿真能力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859536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0896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国际厂商综合评估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371600" cy="2286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评估维度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3520440"/>
            <a:ext cx="1645920" cy="2286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西门子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0" y="3520440"/>
            <a:ext cx="1645920" cy="2286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达索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0" y="3520440"/>
            <a:ext cx="1645920" cy="2286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Bentley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3520440"/>
            <a:ext cx="1645920" cy="2286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13716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" y="3749040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3749040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856232" y="3749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0" y="3749040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502152" y="3749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20640" y="3749040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48072" y="3749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66560" y="3749040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93992" y="3749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950208"/>
            <a:ext cx="13716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" y="3950208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950208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8" name="Text 46"/>
          <p:cNvSpPr/>
          <p:nvPr/>
        </p:nvSpPr>
        <p:spPr>
          <a:xfrm>
            <a:off x="1856232" y="395020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474720" y="3950208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3502152" y="395020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20640" y="3950208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5148072" y="395020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66560" y="3950208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4" name="Text 52"/>
          <p:cNvSpPr/>
          <p:nvPr/>
        </p:nvSpPr>
        <p:spPr>
          <a:xfrm>
            <a:off x="6793992" y="395020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151376"/>
            <a:ext cx="13716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" y="4151376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设计辅助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4151376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1856232" y="415137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474720" y="4151376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3502152" y="415137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20640" y="4151376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148072" y="415137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66560" y="4151376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793992" y="415137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4352544"/>
            <a:ext cx="13716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" y="4352544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中国本地化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828800" y="4352544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8" name="Text 66"/>
          <p:cNvSpPr/>
          <p:nvPr/>
        </p:nvSpPr>
        <p:spPr>
          <a:xfrm>
            <a:off x="1856232" y="435254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74720" y="4352544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0" name="Text 68"/>
          <p:cNvSpPr/>
          <p:nvPr/>
        </p:nvSpPr>
        <p:spPr>
          <a:xfrm>
            <a:off x="3502152" y="435254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120640" y="4352544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2" name="Text 70"/>
          <p:cNvSpPr/>
          <p:nvPr/>
        </p:nvSpPr>
        <p:spPr>
          <a:xfrm>
            <a:off x="5148072" y="435254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66560" y="4352544"/>
            <a:ext cx="16459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4" name="Text 72"/>
          <p:cNvSpPr/>
          <p:nvPr/>
        </p:nvSpPr>
        <p:spPr>
          <a:xfrm>
            <a:off x="6793992" y="435254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" y="4553712"/>
            <a:ext cx="13716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484632" y="455371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性价比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828800" y="4553712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1856232" y="455371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474720" y="4553712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3502152" y="455371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120640" y="4553712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5148072" y="455371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766560" y="4553712"/>
            <a:ext cx="16459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793992" y="455371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8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国内厂商 - 中国中车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“斫轮”大模型系列 · 牵引电机检修线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“斫轮”大模型系列(工艺/设计/运维) | 牵引电机智能检修线 | 转向架数字孪生平台 | 段厂MES系统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3D引擎: Unity + 自研 | AI: “斫轮”大模型(百亿参数) | 部署: 私有化 | 数据: 国密加密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核心算法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大模型工艺生成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知识图谱故障推理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3D点云配准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产线平衡优化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客户案例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四方股份智能产线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株机转向架孪生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长客检修数字化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大连所电机检修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74320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194560"/>
            <a:ext cx="274320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动车组数据垄断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检修工艺积累深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大模型技术领先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全产业链布局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3520440"/>
            <a:ext cx="2743200" cy="1051560"/>
          </a:xfrm>
          <a:prstGeom prst="rectangle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520440"/>
            <a:ext cx="274320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611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劣势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软件商业化弱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对外销售意愿低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平台开放度差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通用性不足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全球市占率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73736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05295"/>
          </a:solidFill>
          <a:ln/>
        </p:spPr>
      </p:sp>
      <p:sp>
        <p:nvSpPr>
          <p:cNvPr id="38" name="Text 36"/>
          <p:cNvSpPr/>
          <p:nvPr/>
        </p:nvSpPr>
        <p:spPr>
          <a:xfrm>
            <a:off x="173736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大模型参数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百亿级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2C74B3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已落地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663440" y="3520440"/>
            <a:ext cx="1280160" cy="502920"/>
          </a:xfrm>
          <a:prstGeom prst="rectangle">
            <a:avLst>
              <a:gd name="adj" fmla="val 14545"/>
            </a:avLst>
          </a:prstGeom>
          <a:solidFill>
            <a:srgbClr val="E8505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威胁等级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3721608"/>
            <a:ext cx="1280160" cy="27660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★★★★</a:t>
            </a:r>
            <a:endParaRPr lang="en-US" sz="1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国内厂商 - 铁科院 &amp; 中国通号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高级修管理系统 · 智能备件管理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2011680"/>
          </a:xfrm>
          <a:prstGeom prst="rectangle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中国铁道科学研究院 (CARS)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 高级修管理系统 | 检修规程数字化平台 | 检修质量评估系统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行业标准制定者，检修规程核心编制单位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技术架构: 规则引擎+关系数据库，私有化部署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核心算法: 检修规则推理、质量评估模型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客户案例: 全路18个铁路局高级修管理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劣势: 商业化能力弱，软件产品化程度低，缺乏3D仿真能力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06240" cy="2011680"/>
          </a:xfrm>
          <a:prstGeom prst="rectangle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中国通号 (CRSC)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 智能备件管理系统 | CTCS信号系统 | 列控中心数字孪生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轨道交通控制系统全球领导者，智能化市占率36.8%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技术架构: 自研实时控制平台，高可靠性私有部署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核心算法: 信号控制算法、备件需求预测、库存优化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客户案例: 京沪高铁CTCS-3、全国高铁信号系统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劣势: 聚焦信号控制主业，检修仿真领域布局较少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859536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08960"/>
            <a:ext cx="859536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合作潜力分析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铁科院: 可合作获取检修规程数据授权，作为行业标准背书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中国通号: 备件管理系统可与检修仿真平台打通，形成协同效应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两家均为央企体系，合作需关注体制内采购流程和决策周期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国内厂商 - 卡斯柯 &amp; 百度 &amp; 商汤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羲和数字城轨 · 智慧城轨 · 方舟交通平台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27432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卡斯柯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羲和数字城轨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554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羲和数字孪生平台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城轨信号仿真系统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智能调度系统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514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Unity | AI: 自研调度 | 部署: 私有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调度优化、信号仿真、客流预测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886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上海地铁14/15号线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深圳地铁20号线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960120"/>
            <a:ext cx="27432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百度智能云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智慧城轨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554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百度智能交通云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AI检修检测方案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工业互联网平台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2514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无 | AI: 文心大模型 | 部署: 公有云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视觉检测、NLP、大模型推理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3886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广州地铁智慧车站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北京地铁AI检测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96012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商汤科技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方舟交通平台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1554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方舟城市交通平台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智能视觉巡检系统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AR检修辅助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3640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2514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AR引擎 | AI: 日日新大模型 | 部署: 混合云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6364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364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YOLO目标检测、语义分割、3D重建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3640" y="3886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6364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上海地铁视觉巡检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深圳地铁AR运维</a:t>
            </a:r>
            <a:endParaRPr lang="en-US" sz="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国内厂商 - 华为 &amp; 中控 &amp; 天泽智云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城轨IOC · 3DGS平台 · PHM系统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27432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城轨IOC智慧运营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508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1673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城轨IOC智慧运营中心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5G+边缘计算方案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沃土数字平台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1945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自研 | AI: MindSpore | 部署: 混合云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IoT数据融合、边缘推理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深圳地铁IOC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成都地铁智慧化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ICT基础设施最强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64592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E8505B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缺乏检修仿真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960120"/>
            <a:ext cx="27432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中控技术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3DGS工业平台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1508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1673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3DGS数字孪生平台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工业调度优化系统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智能产线解决方案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21945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自研 | AI: OR-Tools | 部署: 私有/混合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269748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调度优化、流程仿真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756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宁波地铁调度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多行业产线优化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3756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工业调度能力强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E8505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轨道交通经验浅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26480" y="960120"/>
            <a:ext cx="2743200" cy="3749040"/>
          </a:xfrm>
          <a:prstGeom prst="rectangle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96012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天泽智云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3640" y="1280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PHM智能运维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1508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63640" y="1673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PHM预测性维护平台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智能故障诊断系统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装备健康管理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63640" y="21945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6364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无 | AI: PyTorch | 部署: 私有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269748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LSTM预测、异常检测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6364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6364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中车PHM系统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风电/化工预测维护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626364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PHM算法领先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498080" y="3749040"/>
            <a:ext cx="1143000" cy="201168"/>
          </a:xfrm>
          <a:prstGeom prst="rectangle">
            <a:avLst>
              <a:gd name="adj" fmla="val 13636"/>
            </a:avLst>
          </a:prstGeom>
          <a:solidFill>
            <a:srgbClr val="E8505B"/>
          </a:solidFill>
          <a:ln/>
        </p:spPr>
      </p:sp>
      <p:sp>
        <p:nvSpPr>
          <p:cNvPr id="57" name="Text 55"/>
          <p:cNvSpPr/>
          <p:nvPr/>
        </p:nvSpPr>
        <p:spPr>
          <a:xfrm>
            <a:off x="7498080" y="37490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平台能力弱</a:t>
            </a:r>
            <a:endParaRPr lang="en-US" sz="700" dirty="0"/>
          </a:p>
        </p:txBody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竞品技术路线对比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3D引擎 · AI框架 · 部署方式全方位对比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18288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27432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3D引擎选型对比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7315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9728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10312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渲染质量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1572768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1572768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西门子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9728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71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JT/PARASOLID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13055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1773936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1773936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达索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9728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CGM内核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10312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213055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1975104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" y="1975104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9728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2471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0312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13055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2176272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2176272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卡斯柯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9728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112471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10312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213055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2377440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93192" y="237744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中控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97280" y="2377440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124712" y="2377440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自研WebGL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103120" y="2377440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130552" y="2377440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00400" y="960120"/>
            <a:ext cx="2743200" cy="18288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960120"/>
            <a:ext cx="27432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1" name="Text 49"/>
          <p:cNvSpPr/>
          <p:nvPr/>
        </p:nvSpPr>
        <p:spPr>
          <a:xfrm>
            <a:off x="338328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AI框架对比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91840" y="1371600"/>
            <a:ext cx="7315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3" name="Text 51"/>
          <p:cNvSpPr/>
          <p:nvPr/>
        </p:nvSpPr>
        <p:spPr>
          <a:xfrm>
            <a:off x="3291840" y="1371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02336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AI框架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02920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91840" y="1572768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319272" y="1572768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西门子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02336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405079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内置ML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2920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05663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91840" y="1773936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5" name="Text 63"/>
          <p:cNvSpPr/>
          <p:nvPr/>
        </p:nvSpPr>
        <p:spPr>
          <a:xfrm>
            <a:off x="3319272" y="1773936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达索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02336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7" name="Text 65"/>
          <p:cNvSpPr/>
          <p:nvPr/>
        </p:nvSpPr>
        <p:spPr>
          <a:xfrm>
            <a:off x="405079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仿真优化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2920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9" name="Text 67"/>
          <p:cNvSpPr/>
          <p:nvPr/>
        </p:nvSpPr>
        <p:spPr>
          <a:xfrm>
            <a:off x="505663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91840" y="1975104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319272" y="1975104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02336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05079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斫轮大模型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02920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505663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291840" y="2176272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3319272" y="2176272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02336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405079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文心大模型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02920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1" name="Text 79"/>
          <p:cNvSpPr/>
          <p:nvPr/>
        </p:nvSpPr>
        <p:spPr>
          <a:xfrm>
            <a:off x="505663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291840" y="2377440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3319272" y="237744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商汤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023360" y="2377440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4050792" y="2377440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日日新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029200" y="2377440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5056632" y="2377440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126480" y="960120"/>
            <a:ext cx="2743200" cy="18288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126480" y="960120"/>
            <a:ext cx="274320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90" name="Text 88"/>
          <p:cNvSpPr/>
          <p:nvPr/>
        </p:nvSpPr>
        <p:spPr>
          <a:xfrm>
            <a:off x="630936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部署方式对比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217920" y="1371600"/>
            <a:ext cx="7315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92" name="Text 90"/>
          <p:cNvSpPr/>
          <p:nvPr/>
        </p:nvSpPr>
        <p:spPr>
          <a:xfrm>
            <a:off x="6217920" y="1371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94944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94" name="Text 92"/>
          <p:cNvSpPr/>
          <p:nvPr/>
        </p:nvSpPr>
        <p:spPr>
          <a:xfrm>
            <a:off x="694944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95528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96" name="Text 94"/>
          <p:cNvSpPr/>
          <p:nvPr/>
        </p:nvSpPr>
        <p:spPr>
          <a:xfrm>
            <a:off x="795528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灵活性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217920" y="1572768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6245352" y="1572768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西门子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94944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697687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私有/混合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95528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798271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217920" y="1773936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04" name="Text 102"/>
          <p:cNvSpPr/>
          <p:nvPr/>
        </p:nvSpPr>
        <p:spPr>
          <a:xfrm>
            <a:off x="6245352" y="1773936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达索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4944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06" name="Text 104"/>
          <p:cNvSpPr/>
          <p:nvPr/>
        </p:nvSpPr>
        <p:spPr>
          <a:xfrm>
            <a:off x="697687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私有云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95528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08" name="Text 106"/>
          <p:cNvSpPr/>
          <p:nvPr/>
        </p:nvSpPr>
        <p:spPr>
          <a:xfrm>
            <a:off x="798271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6217920" y="1975104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6245352" y="1975104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Bentley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694944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/>
          <p:nvPr/>
        </p:nvSpPr>
        <p:spPr>
          <a:xfrm>
            <a:off x="697687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795528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798271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217920" y="2176272"/>
            <a:ext cx="7315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6" name="Text 114"/>
          <p:cNvSpPr/>
          <p:nvPr/>
        </p:nvSpPr>
        <p:spPr>
          <a:xfrm>
            <a:off x="6245352" y="2176272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694944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18" name="Text 116"/>
          <p:cNvSpPr/>
          <p:nvPr/>
        </p:nvSpPr>
        <p:spPr>
          <a:xfrm>
            <a:off x="697687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95528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120" name="Text 118"/>
          <p:cNvSpPr/>
          <p:nvPr/>
        </p:nvSpPr>
        <p:spPr>
          <a:xfrm>
            <a:off x="798271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217920" y="2377440"/>
            <a:ext cx="7315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2" name="Text 120"/>
          <p:cNvSpPr/>
          <p:nvPr/>
        </p:nvSpPr>
        <p:spPr>
          <a:xfrm>
            <a:off x="6245352" y="237744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华为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6949440" y="2377440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6976872" y="2377440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混合云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7955280" y="2377440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126" name="Text 124"/>
          <p:cNvSpPr/>
          <p:nvPr/>
        </p:nvSpPr>
        <p:spPr>
          <a:xfrm>
            <a:off x="7982712" y="2377440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274320" y="2926080"/>
            <a:ext cx="8595360" cy="1645920"/>
          </a:xfrm>
          <a:prstGeom prst="rectangle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274320" y="292608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29" name="Text 127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技术路线关键发现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Unity是国内厂商首选3D引擎，渲染质量与开发效率最佳平衡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大模型成为AI能力核心差异点，中车/百度/商汤均布局大模型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私有化部署是国内轨道交通客户刚需，SaaS模式接受度低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国际厂商技术积累深厚但本地化不足，国内厂商AI能力强但工业经验浅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尚无厂商同时具备: 部件检修仿真+段厂调度优化+设计辅助+生产调度 四大能力</a:t>
            </a:r>
            <a:endParaRPr lang="en-US" sz="800" dirty="0"/>
          </a:p>
        </p:txBody>
      </p:sp>
      <p:sp>
        <p:nvSpPr>
          <p:cNvPr id="1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竞品深度分析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竞品分析结论与市场空白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关键发现：综合平台尚不存在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114800" cy="18288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11480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市场空白分析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1097280" cy="274320"/>
          </a:xfrm>
          <a:prstGeom prst="rectangle">
            <a:avLst>
              <a:gd name="adj" fmla="val 10000"/>
            </a:avLst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部件检修仿真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30%厂商支持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1719072"/>
            <a:ext cx="914400" cy="274320"/>
          </a:xfrm>
          <a:prstGeom prst="rectangle">
            <a:avLst>
              <a:gd name="adj" fmla="val 10000"/>
            </a:avLst>
          </a:prstGeom>
          <a:solidFill>
            <a:srgbClr val="20529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段厂调度优化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25%厂商支持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2066544"/>
            <a:ext cx="731520" cy="274320"/>
          </a:xfrm>
          <a:prstGeom prst="rectangle">
            <a:avLst>
              <a:gd name="adj" fmla="val 10000"/>
            </a:avLst>
          </a:prstGeom>
          <a:solidFill>
            <a:srgbClr val="2C74B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066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设计辅助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0160" y="2066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20%厂商支持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2414016"/>
            <a:ext cx="914400" cy="274320"/>
          </a:xfrm>
          <a:prstGeom prst="rectangle">
            <a:avLst>
              <a:gd name="adj" fmla="val 10000"/>
            </a:avLst>
          </a:prstGeom>
          <a:solidFill>
            <a:srgbClr val="14427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生产调度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63040" y="24140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25%厂商支持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297680" cy="18288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960120"/>
            <a:ext cx="42976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051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同时支持4大场景的综合平台尚不存在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检修仿真领域无绝对龙头，市场格局未定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国际厂商技术强但本地化弱，价格高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国内厂商AI强但工业仿真经验不足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Unity+大模型是最佳技术组合路线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8595360" cy="1645920"/>
          </a:xfrm>
          <a:prstGeom prst="rectangle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859536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竞争定位建议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37560"/>
            <a:ext cx="109728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337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定位维度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554480" y="3337560"/>
            <a:ext cx="18288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3337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国际厂商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83280" y="3337560"/>
            <a:ext cx="18288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337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国内龙头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12080" y="3337560"/>
            <a:ext cx="18288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337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科技企业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40880" y="3337560"/>
            <a:ext cx="18288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3337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我方定位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" y="3538728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" y="353872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554480" y="3538728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581912" y="353872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自研引擎+仿真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83280" y="3538728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410712" y="353872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Unity+大模型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212080" y="3538728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39512" y="353872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AI+云平台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040880" y="3538728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068312" y="353872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Unity+开源算法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7200" y="3739896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" y="373989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目标市场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554480" y="3739896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1581912" y="3739896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高端制造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383280" y="3739896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7" name="Text 55"/>
          <p:cNvSpPr/>
          <p:nvPr/>
        </p:nvSpPr>
        <p:spPr>
          <a:xfrm>
            <a:off x="3410712" y="3739896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铁路内部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212080" y="3739896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9" name="Text 57"/>
          <p:cNvSpPr/>
          <p:nvPr/>
        </p:nvSpPr>
        <p:spPr>
          <a:xfrm>
            <a:off x="5239512" y="3739896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通用平台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040880" y="3739896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61" name="Text 59"/>
          <p:cNvSpPr/>
          <p:nvPr/>
        </p:nvSpPr>
        <p:spPr>
          <a:xfrm>
            <a:off x="7068312" y="3739896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检修仿真垂直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3941064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" y="394106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价格策略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554480" y="3941064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581912" y="394106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百万级/年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383280" y="3941064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410712" y="394106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内部使用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212080" y="3941064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239512" y="394106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按需付费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040880" y="3941064"/>
            <a:ext cx="18288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7068312" y="394106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30-80万/年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57200" y="4142232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484632" y="414223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核心壁垒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554480" y="4142232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1581912" y="414223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技术积累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383280" y="4142232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3410712" y="414223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行业数据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212080" y="4142232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5239512" y="414223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AI能力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040880" y="4142232"/>
            <a:ext cx="18288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1" name="Text 79"/>
          <p:cNvSpPr/>
          <p:nvPr/>
        </p:nvSpPr>
        <p:spPr>
          <a:xfrm>
            <a:off x="7068312" y="414223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行业know-how</a:t>
            </a:r>
            <a:endParaRPr lang="en-US" sz="700" dirty="0"/>
          </a:p>
        </p:txBody>
      </p:sp>
      <p:sp>
        <p:nvSpPr>
          <p:cNvPr id="8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技术趋势分析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技术趋势分析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技术成熟度评估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当前技术成熟度 vs 2028年预期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pic>
        <p:nvPicPr>
          <p:cNvPr id="10" name="Image 0" descr="/data/user/work/tech_trend_radar_9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38912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1005840"/>
            <a:ext cx="3749040" cy="3200400"/>
          </a:xfrm>
          <a:prstGeom prst="rectangle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005840"/>
            <a:ext cx="37490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技术成熟度分析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15544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3D建模与渲染: 成熟度85%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实时数据同步: 成熟度70%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AI智能诊断: 成熟度55%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VR/AR融合: 成熟度50%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数字孪生平台: 成熟度45%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自主决策系统: 成熟度30%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3657600"/>
            <a:ext cx="3383280" cy="411480"/>
          </a:xfrm>
          <a:prstGeom prst="rectangle">
            <a:avLst>
              <a:gd name="adj" fmla="val 11111"/>
            </a:avLst>
          </a:prstGeom>
          <a:solidFill>
            <a:srgbClr val="0A2647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3657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2028年预期: AI诊断75%+ 平台成熟度70%+</a:t>
            </a:r>
            <a:endParaRPr lang="en-US" sz="9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技术趋势分析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Unity在工业数字孪生的应用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德国铁路DB Metaverse案例深度分析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5029200" cy="1371600"/>
          </a:xfrm>
          <a:prstGeom prst="rectangle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50292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88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案例: 德国铁路DB Metaverse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德国铁路(Deutsche Bahn)采用Unity构建铁路数字孪生Metaverse平台，实现培训、运维、检修的全场景数字化覆盖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0A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培训中心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1693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40个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06040" y="260604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205295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65176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活跃用户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291693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2C74B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65176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覆盖场景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91693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全场景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20840" y="2606040"/>
            <a:ext cx="1874520" cy="777240"/>
          </a:xfrm>
          <a:prstGeom prst="rectangle">
            <a:avLst>
              <a:gd name="adj" fmla="val 9412"/>
            </a:avLst>
          </a:prstGeom>
          <a:solidFill>
            <a:srgbClr val="E8505B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65176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2916936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数亿欧元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384048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566160"/>
            <a:ext cx="3840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核心技术特点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实时3D渲染引擎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XR融合(VR/AR/MR)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多人协同交互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384048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66160"/>
            <a:ext cx="384048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对中国的启示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全场景覆盖是趋势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培训是最佳切入点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平台化运营是关键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技术趋势分析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动车组智能检修技术趋势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AI嵌入检修全程的8个关键环节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入段检测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8016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0A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故障诊断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172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0A2647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6032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工艺规划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1188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0A2647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1188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备件管理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3484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205295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作业执行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1500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205295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1500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质量检验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205295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6656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数据记录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818120" y="1188720"/>
            <a:ext cx="868680" cy="868680"/>
          </a:xfrm>
          <a:prstGeom prst="rectangle">
            <a:avLst>
              <a:gd name="adj" fmla="val 10526"/>
            </a:avLst>
          </a:prstGeom>
          <a:solidFill>
            <a:srgbClr val="205295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818120" y="16459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出段放行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2286000"/>
            <a:ext cx="3840480" cy="2286000"/>
          </a:xfrm>
          <a:prstGeom prst="rectangle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2286000"/>
            <a:ext cx="3840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AI技术应用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27432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计算机视觉自动检测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NLP工艺卡片智能解析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知识图谱故障推理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强化学习作业优化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机器人协同检修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286000"/>
            <a:ext cx="3840480" cy="2286000"/>
          </a:xfrm>
          <a:prstGeom prst="rectangle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286000"/>
            <a:ext cx="3840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数字工位建设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27432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工位级数字孪生建模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AR辅助检修指导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作业行为智能识别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工具/物料智能管理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全流程数据追溯</a:t>
            </a:r>
            <a:endParaRPr lang="en-US" sz="1000" dirty="0"/>
          </a:p>
        </p:txBody>
      </p:sp>
      <p:sp>
        <p:nvSpPr>
          <p:cNvPr id="4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算法模型选型分析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算法模型选型分析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算法体系总览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7大类算法 · 分层架构设计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8046720" cy="640080"/>
          </a:xfrm>
          <a:prstGeom prst="rectangle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80467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051560"/>
            <a:ext cx="73152" cy="64008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051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0515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部件检修仿真 | 段厂调度优化 | 设计辅助 | 生产调度 | 培训考核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8046720" cy="640080"/>
          </a:xfrm>
          <a:prstGeom prst="rectangle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1828800"/>
            <a:ext cx="80467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828800"/>
            <a:ext cx="73152" cy="640080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1828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调度优化 | 路径规划 | 仿真引擎 | PHM预测 | AI视觉 | 孪生同步 | 生产排程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8046720" cy="640080"/>
          </a:xfrm>
          <a:prstGeom prst="rectangle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606040"/>
            <a:ext cx="80467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606040"/>
            <a:ext cx="73152" cy="640080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26060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GA/SA/PSO | A*/DWA | DES/PhysX | LSTM/GRU | YOLO/U-Net | EKF/UKF | CP-SAT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046720" cy="640080"/>
          </a:xfrm>
          <a:prstGeom prst="rectangle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383280"/>
            <a:ext cx="804672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383280"/>
            <a:ext cx="73152" cy="640080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383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33832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Python/C++ | PyTorch | OR-Tools | Open3D | Unity | ROS | gRPC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16642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24414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186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804672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7大类算法覆盖检修仿真全场景，分层解耦设计确保可扩展性与可维护性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算法模型选型分析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调度优化与路径规划算法选型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GA+SA+PSO混合策略 · A*+DWA分层规划 · OR-Tools · 强化学习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调度优化算法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11887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55448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6888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83280" y="1371600"/>
            <a:ext cx="109728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371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1572768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157276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GA+SA+PSO混合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55448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58191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9631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全局+局部搜索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83280" y="1572768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10712" y="157276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DEAP/Scipy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1773936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177393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55448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158191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生产排程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6888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249631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约束求解快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83280" y="1773936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410712" y="177393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1975104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19751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强化学习PPO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55448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58191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动态调度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46888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49631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自适应优化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383280" y="1975104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410712" y="197510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" y="2176272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" y="217627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强化学习DQN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55448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8" name="Text 46"/>
          <p:cNvSpPr/>
          <p:nvPr/>
        </p:nvSpPr>
        <p:spPr>
          <a:xfrm>
            <a:off x="158191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资源分配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46888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249631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决策能力强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383280" y="2176272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3410712" y="217627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6344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路径规划算法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1371600"/>
            <a:ext cx="11887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4360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5800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772400" y="1371600"/>
            <a:ext cx="109728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0" y="1371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754880" y="1572768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82312" y="157276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A*+DWA分层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94360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97103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AGV路径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5800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88543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全局+局部避障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772400" y="1572768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7799832" y="157276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Nav2/OMPL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54880" y="1773936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4782312" y="177393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RRT/RRT*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94360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597103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复杂环境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85800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688543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高维空间搜索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772400" y="1773936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7799832" y="177393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OMPL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754880" y="1975104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782312" y="19751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4360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597103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固定路径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85800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688543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最优解保证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772400" y="1975104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7799832" y="197510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754880" y="2176272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9" name="Text 87"/>
          <p:cNvSpPr/>
          <p:nvPr/>
        </p:nvSpPr>
        <p:spPr>
          <a:xfrm>
            <a:off x="4782312" y="217627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94360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1" name="Text 89"/>
          <p:cNvSpPr/>
          <p:nvPr/>
        </p:nvSpPr>
        <p:spPr>
          <a:xfrm>
            <a:off x="597103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动态避障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85800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3" name="Text 91"/>
          <p:cNvSpPr/>
          <p:nvPr/>
        </p:nvSpPr>
        <p:spPr>
          <a:xfrm>
            <a:off x="688543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实时决策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772400" y="2176272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5" name="Text 93"/>
          <p:cNvSpPr/>
          <p:nvPr/>
        </p:nvSpPr>
        <p:spPr>
          <a:xfrm>
            <a:off x="7799832" y="217627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74320" y="3017520"/>
            <a:ext cx="8595360" cy="1554480"/>
          </a:xfrm>
          <a:prstGeom prst="rectangle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74320" y="301752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选型建议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段厂调度首选: GA+SA+PSO混合策略，兼顾全局搜索与局部优化能力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生产排程首选: OR-Tools CP-SAT约束规划，求解速度快，工业验证充分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AGV路径首选: A*+DWA分层规划，全局路径A*+局部避障DWA，成熟可靠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动态场景备选: 强化学习PPO/DQN，适合动态调度和实时决策场景</a:t>
            </a:r>
            <a:endParaRPr lang="en-US" sz="900" dirty="0"/>
          </a:p>
        </p:txBody>
      </p:sp>
      <p:sp>
        <p:nvSpPr>
          <p:cNvPr id="10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算法模型选型分析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仿真引擎与PHM算法选型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DES引擎 · 物理引擎 · Transformer-LSTM预测模型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仿真引擎选型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1371600"/>
            <a:ext cx="109728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371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AnyLogic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9903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DES+SD+ABM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377440" y="1572768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157276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段厂流程仿真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7472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50215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商业软件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139903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DES离散事件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377440" y="1773936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2404872" y="177393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检修流程模拟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47472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50215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SimPy(Python)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37160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39903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物理仿真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377440" y="1975104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404872" y="197510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部件拆装仿真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47472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50215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PhysX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37160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8" name="Text 46"/>
          <p:cNvSpPr/>
          <p:nvPr/>
        </p:nvSpPr>
        <p:spPr>
          <a:xfrm>
            <a:off x="139903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刚体仿真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377440" y="2176272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2404872" y="217627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碰撞检测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7472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350215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Physics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6344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PHM预测算法选型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1371600"/>
            <a:ext cx="11887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4360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5800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772400" y="1371600"/>
            <a:ext cx="109728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0" y="1371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754880" y="1572768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82312" y="157276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94360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97103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RUL预测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5800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88543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长序列建模强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772400" y="1572768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7799832" y="157276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54880" y="1773936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4782312" y="177393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GRU+Attention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94360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597103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故障预测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85800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688543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计算效率高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772400" y="1773936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7799832" y="177393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PyTorch/Keras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754880" y="1975104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782312" y="19751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4360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597103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异常检测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85800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688543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无监督学习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772400" y="1975104"/>
            <a:ext cx="109728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7799832" y="197510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754880" y="2176272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9" name="Text 87"/>
          <p:cNvSpPr/>
          <p:nvPr/>
        </p:nvSpPr>
        <p:spPr>
          <a:xfrm>
            <a:off x="4782312" y="217627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94360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1" name="Text 89"/>
          <p:cNvSpPr/>
          <p:nvPr/>
        </p:nvSpPr>
        <p:spPr>
          <a:xfrm>
            <a:off x="597103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故障分类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85800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3" name="Text 91"/>
          <p:cNvSpPr/>
          <p:nvPr/>
        </p:nvSpPr>
        <p:spPr>
          <a:xfrm>
            <a:off x="688543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特征工程强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772400" y="2176272"/>
            <a:ext cx="109728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5" name="Text 93"/>
          <p:cNvSpPr/>
          <p:nvPr/>
        </p:nvSpPr>
        <p:spPr>
          <a:xfrm>
            <a:off x="7799832" y="217627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74320" y="3017520"/>
            <a:ext cx="8595360" cy="1554480"/>
          </a:xfrm>
          <a:prstGeom prst="rectangle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74320" y="301752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选型建议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检修流程仿真首选: SimPy(Python)，轻量灵活，与AI算法集成方便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部件拆装仿真首选: PhysX物理引擎，与Unity深度集成，碰撞检测精度高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RUL寿命预测首选: Transformer-LSTM混合模型，长序列时序建模能力最强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故障分类首选: XGBoost，小样本场景表现优异，训练速度快</a:t>
            </a:r>
            <a:endParaRPr lang="en-US" sz="900" dirty="0"/>
          </a:p>
        </p:txBody>
      </p:sp>
      <p:sp>
        <p:nvSpPr>
          <p:cNvPr id="10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算法模型选型分析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AI视觉检测与孪生同步算法选型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YOLOv8+U-Net+Open3D · EKF/UKF状态估计 · 多源数据融合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AI视觉检测算法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118872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9903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37744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实时性好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91840" y="1572768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157276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139903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语义分割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37744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240487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像素级精度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91840" y="1773936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319272" y="177393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Models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Open3D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37160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39903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3D点云处理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37744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40487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三维重建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91840" y="1975104"/>
            <a:ext cx="118872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319272" y="19751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Open3D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37160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48" name="Text 46"/>
          <p:cNvSpPr/>
          <p:nvPr/>
        </p:nvSpPr>
        <p:spPr>
          <a:xfrm>
            <a:off x="139903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通用分割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37744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240487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零样本分割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91840" y="2176272"/>
            <a:ext cx="118872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3319272" y="217627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SAM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6344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孪生同步算法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1371600"/>
            <a:ext cx="100584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76072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59" name="Text 57"/>
          <p:cNvSpPr/>
          <p:nvPr/>
        </p:nvSpPr>
        <p:spPr>
          <a:xfrm>
            <a:off x="576072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675120" y="1371600"/>
            <a:ext cx="91440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1" name="Text 59"/>
          <p:cNvSpPr/>
          <p:nvPr/>
        </p:nvSpPr>
        <p:spPr>
          <a:xfrm>
            <a:off x="667512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589520" y="1371600"/>
            <a:ext cx="1280160" cy="20116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63" name="Text 61"/>
          <p:cNvSpPr/>
          <p:nvPr/>
        </p:nvSpPr>
        <p:spPr>
          <a:xfrm>
            <a:off x="7589520" y="1371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开源库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754880" y="1572768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82312" y="157276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EKF/UKF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76072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78815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状态估计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675120" y="1572768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702552" y="157276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实时滤波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589520" y="1572768"/>
            <a:ext cx="128016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7616952" y="157276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54880" y="1773936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4782312" y="17739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多源融合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76072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578815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数据融合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675120" y="1773936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6702552" y="1773936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精度提升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589520" y="1773936"/>
            <a:ext cx="128016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7616952" y="1773936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754880" y="1975104"/>
            <a:ext cx="100584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782312" y="1975104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76072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578815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时序对齐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675120" y="1975104"/>
            <a:ext cx="91440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6702552" y="1975104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弹性匹配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589520" y="1975104"/>
            <a:ext cx="1280160" cy="201168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7616952" y="1975104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tslearn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754880" y="2176272"/>
            <a:ext cx="100584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89" name="Text 87"/>
          <p:cNvSpPr/>
          <p:nvPr/>
        </p:nvSpPr>
        <p:spPr>
          <a:xfrm>
            <a:off x="4782312" y="2176272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76072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1" name="Text 89"/>
          <p:cNvSpPr/>
          <p:nvPr/>
        </p:nvSpPr>
        <p:spPr>
          <a:xfrm>
            <a:off x="578815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拓扑推理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675120" y="2176272"/>
            <a:ext cx="91440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3" name="Text 91"/>
          <p:cNvSpPr/>
          <p:nvPr/>
        </p:nvSpPr>
        <p:spPr>
          <a:xfrm>
            <a:off x="6702552" y="2176272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关系建模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589520" y="2176272"/>
            <a:ext cx="1280160" cy="201168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95" name="Text 93"/>
          <p:cNvSpPr/>
          <p:nvPr/>
        </p:nvSpPr>
        <p:spPr>
          <a:xfrm>
            <a:off x="7616952" y="217627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74320" y="3017520"/>
            <a:ext cx="8595360" cy="1554480"/>
          </a:xfrm>
          <a:prstGeom prst="rectangle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74320" y="301752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选型建议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视觉检测首选: YOLOv8+U-Net组合，目标检测+语义分割覆盖主要检测场景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3D重建首选: Open3D点云处理库，支持点云配准/分割/重建全流程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状态估计首选: EKF/UKF卡尔曼滤波，实时性好，适合虚实同步场景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多源融合: 传感器数据+视觉数据+业务数据三层融合架构</a:t>
            </a:r>
            <a:endParaRPr lang="en-US" sz="900" dirty="0"/>
          </a:p>
        </p:txBody>
      </p:sp>
      <p:sp>
        <p:nvSpPr>
          <p:cNvPr id="10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算法模型选型分析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算法选型总结表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7大类算法 · 首选方案 · 辅助方案 · 核心开源库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005840"/>
            <a:ext cx="1097280" cy="27432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算法类别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71600" y="1005840"/>
            <a:ext cx="1463040" cy="27432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首选方案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834640" y="1005840"/>
            <a:ext cx="1371600" cy="27432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辅助方案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06240" y="1005840"/>
            <a:ext cx="1645920" cy="27432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核心开源库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852160" y="1005840"/>
            <a:ext cx="1463040" cy="27432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1280160"/>
            <a:ext cx="109728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" y="12801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调度优化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0" y="12801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99032" y="1280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GA+SA+PSO混合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834640" y="1280160"/>
            <a:ext cx="137160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862072" y="12801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06240" y="1280160"/>
            <a:ext cx="164592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23367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DEAP/Scipy/OR-Tools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52160" y="12801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1280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段厂调度/资源分配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1737360"/>
            <a:ext cx="109728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" y="17373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路径规划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371600" y="17373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1399032" y="17373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A*+DWA分层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834640" y="1737360"/>
            <a:ext cx="137160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2862072" y="17373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RRT*/Dijkstra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06240" y="1737360"/>
            <a:ext cx="164592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4233672" y="1737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Nav2/OMPL/NetworkX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852160" y="17373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5879592" y="17373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AGV导航/避障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4320" y="2194560"/>
            <a:ext cx="109728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" y="21945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仿真引擎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71600" y="21945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39903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SimPy+PhysX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834640" y="2194560"/>
            <a:ext cx="137160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862072" y="21945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AnyLogic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206240" y="2194560"/>
            <a:ext cx="164592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233672" y="21945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SimPy/NVIDIA PhysX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852160" y="21945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87959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流程仿真/拆装仿真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2651760"/>
            <a:ext cx="109728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1" name="Text 49"/>
          <p:cNvSpPr/>
          <p:nvPr/>
        </p:nvSpPr>
        <p:spPr>
          <a:xfrm>
            <a:off x="301752" y="26517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PHM预测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371600" y="26517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3" name="Text 51"/>
          <p:cNvSpPr/>
          <p:nvPr/>
        </p:nvSpPr>
        <p:spPr>
          <a:xfrm>
            <a:off x="1399032" y="26517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834640" y="2651760"/>
            <a:ext cx="137160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2862072" y="26517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XGBoost/GRU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06240" y="2651760"/>
            <a:ext cx="164592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7" name="Text 55"/>
          <p:cNvSpPr/>
          <p:nvPr/>
        </p:nvSpPr>
        <p:spPr>
          <a:xfrm>
            <a:off x="423367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PyTorch/XGBoost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852160" y="26517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59" name="Text 57"/>
          <p:cNvSpPr/>
          <p:nvPr/>
        </p:nvSpPr>
        <p:spPr>
          <a:xfrm>
            <a:off x="5879592" y="26517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RUL预测/故障分类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3108960"/>
            <a:ext cx="109728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01752" y="31089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AI视觉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71600" y="31089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399032" y="31089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YOLOv8+U-Net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834640" y="3108960"/>
            <a:ext cx="137160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2862072" y="31089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SAM/Open3D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206240" y="3108960"/>
            <a:ext cx="164592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233672" y="31089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Ultralytics/Open3D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852160" y="31089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879592" y="31089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缺陷检测/3D重建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74320" y="3566160"/>
            <a:ext cx="109728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1" name="Text 69"/>
          <p:cNvSpPr/>
          <p:nvPr/>
        </p:nvSpPr>
        <p:spPr>
          <a:xfrm>
            <a:off x="301752" y="35661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孪生同步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371600" y="35661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1399032" y="3566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EKF/UKF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834640" y="3566160"/>
            <a:ext cx="137160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5" name="Text 73"/>
          <p:cNvSpPr/>
          <p:nvPr/>
        </p:nvSpPr>
        <p:spPr>
          <a:xfrm>
            <a:off x="2862072" y="35661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DTW/GNN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206240" y="3566160"/>
            <a:ext cx="164592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4233672" y="3566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FilterPy/tslearn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852160" y="3566160"/>
            <a:ext cx="1463040" cy="457200"/>
          </a:xfrm>
          <a:prstGeom prst="rectangle">
            <a:avLst/>
          </a:pr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5879592" y="3566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状态估计/数据融合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74320" y="4023360"/>
            <a:ext cx="109728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01752" y="40233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生产排程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371600" y="40233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399032" y="40233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834640" y="4023360"/>
            <a:ext cx="137160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2862072" y="40233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GA+强化学习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206240" y="4023360"/>
            <a:ext cx="164592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423367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OR-Tools/RLlib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852160" y="4023360"/>
            <a:ext cx="1463040" cy="4572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5879592" y="40233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生产计划/排程优化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74320" y="4297680"/>
            <a:ext cx="8595360" cy="731520"/>
          </a:xfrm>
          <a:prstGeom prst="rectangle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74320" y="4297680"/>
            <a:ext cx="859536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92" name="Text 9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选型原则: 开源优先 · 成熟度优先 · 可集成性优先 · 性价比优先 | 全部算法均基于开源生态，避免商业软件依赖</a:t>
            </a:r>
            <a:endParaRPr lang="en-US" sz="900" dirty="0"/>
          </a:p>
        </p:txBody>
      </p:sp>
      <p:sp>
        <p:nvSpPr>
          <p:cNvPr id="9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政策环境分析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政策环境分析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国家与行业政策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顶层设计 + 行业标准双轮驱动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国家战略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十四五铁路科技创新规划 - 智能铁路2.0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数字中国建设整体布局规划 - 数字化转型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铁路人工智能应用指导意见 - AI应用方向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制造强国战略 - 智能制造推进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1920240"/>
          </a:xfrm>
          <a:prstGeom prst="rectangle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20624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行业标准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智能铁路2.0技术体系 - 数字孪生核心路线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CR450科技创新工程 - 新一代动车组研发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铁路BIM协同平台标准 - 建模规范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智慧铁路数据标准 - 数据互联互通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8595360" cy="1097280"/>
          </a:xfrm>
          <a:prstGeom prst="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859536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政策影响评估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政策支持力度: ★★★★★ 国家战略层面全面支持轨道交通数字化转型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标准体系逐步完善，为数字孪生检修仿真系统提供技术规范支撑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CR450工程带动检修仿真技术升级需求，市场增量明确</a:t>
            </a:r>
            <a:endParaRPr lang="en-US" sz="9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政策环境分析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地方政策与资金支持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多省市数字孪生政策与国家资金投入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25603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北京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数字经济标杆城市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51560"/>
            <a:ext cx="25603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数字化转型示范区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25603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广东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数字湾区建设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14884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148840"/>
            <a:ext cx="256032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浙江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数字经济一号工程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14884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2148840"/>
            <a:ext cx="2560320" cy="54864"/>
          </a:xfrm>
          <a:prstGeom prst="rectangle">
            <a:avLst/>
          </a:prstGeom>
          <a:solidFill>
            <a:srgbClr val="8E44AD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江苏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智改数转行动计划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148840"/>
            <a:ext cx="2560320" cy="914400"/>
          </a:xfrm>
          <a:prstGeom prst="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148840"/>
            <a:ext cx="256032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数字四川建设方案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291840"/>
            <a:ext cx="8046720" cy="1188720"/>
          </a:xfrm>
          <a:prstGeom prst="rectangle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291840"/>
            <a:ext cx="804672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国家重点研发计划资金支持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国家重点研发计划"智能传感器"专项: 年投入超10亿元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"制造基础技术与关键部件"重点专项: 数字孪生相关课题资助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国家自然科学基金: 数字孪生、智能制造相关面上/重点项目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地方政府配套资金: 各省市数字孪生产业基金总规模超500亿元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743200" cy="2743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市场机会与策略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3716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rectangle">
            <a:avLst>
              <a:gd name="adj" fmla="val 50000"/>
            </a:avLst>
          </a:prstGeom>
          <a:solidFill>
            <a:srgbClr val="20529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48</a:t>
            </a:r>
            <a:endParaRPr lang="en-US" sz="9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市场机会与策略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市场机会分析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四大核心机会 + 市场空白分析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3840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23444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铁路占交通运输42%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188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最大细分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1508760"/>
            <a:ext cx="2286000" cy="1828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铁路运输是交通运输数字孪生最大细分市场，检修仿真作为铁路数字化的核心场景，市场空间广阔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384048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123444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20529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检修仿真无绝对龙头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1188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5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蓝海市场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1508760"/>
            <a:ext cx="2286000" cy="18288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当前检修仿真领域尚无占据绝对优势的厂商，市场格局未定，新进入者有机会快速建立领先地位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697480"/>
            <a:ext cx="384048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288036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2C74B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AI+数字孪生早期阶段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3154680"/>
            <a:ext cx="2286000" cy="18288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2461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AI与数字孪生融合应用处于早期阶段，技术壁垒尚未形成，先发优势明显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69748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697480"/>
            <a:ext cx="384048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6" name="Shape 34"/>
          <p:cNvSpPr/>
          <p:nvPr/>
        </p:nvSpPr>
        <p:spPr>
          <a:xfrm>
            <a:off x="4892040" y="2880360"/>
            <a:ext cx="457200" cy="457200"/>
          </a:xfrm>
          <a:prstGeom prst="rectangle">
            <a:avLst>
              <a:gd name="adj" fmla="val 50000"/>
            </a:avLst>
          </a:prstGeom>
          <a:solidFill>
            <a:srgbClr val="E8505B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综合平台市场空白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3154680"/>
            <a:ext cx="2286000" cy="18288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2461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同时支持部件检修+段厂调度+设计辅助+生产调度的综合平台尚不存在，差异化机会明确</a:t>
            </a:r>
            <a:endParaRPr lang="en-US" sz="9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市场机会与策略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SWOT分析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动车组检修数字孪生仿真系统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384048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 优势 (Strengths)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已有动车组工艺资料和模型积累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三维模型资源储备丰富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行业专家团队支持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检修流程深度理解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384048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 劣势 (Weaknesses)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数字孪生领域新进入者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品牌知名度待建立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平台开发经验有限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客户资源需拓展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97480"/>
            <a:ext cx="3840480" cy="54864"/>
          </a:xfrm>
          <a:prstGeom prst="rectangl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机会 (Opportunities)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108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政策+需求双驱动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检修仿真无绝对龙头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AI技术快速成熟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城轨地铁快速扩张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3840480" cy="1463040"/>
          </a:xfrm>
          <a:prstGeom prst="rectangle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97480"/>
            <a:ext cx="384048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 威胁 (Threats)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108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国际巨头竞争压力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中车等装备龙头布局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技术迭代速度快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人才竞争激烈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市场机会与策略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市场进入策略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三阶段市场进入路径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2560320" cy="256032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25603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88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MVP切入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0-12个月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011680"/>
            <a:ext cx="1645920" cy="18288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聚焦设计辅助+部件检修仿真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打造标杆案例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建立核心团队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验证产品市场匹配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37560" y="1051560"/>
            <a:ext cx="2560320" cy="256032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051560"/>
            <a:ext cx="25603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188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扩展场景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12-24个月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2011680"/>
            <a:ext cx="1645920" cy="18288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扩展生产调度+运维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城轨地铁市场切入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平台能力建设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渠道合作拓展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1051560"/>
            <a:ext cx="2560320" cy="2560320"/>
          </a:xfrm>
          <a:prstGeom prst="rectangle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51560"/>
            <a:ext cx="25603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188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平台化运营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24-36个月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011680"/>
            <a:ext cx="1645920" cy="18288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SaaS平台化运营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生态伙伴体系建设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行业标准参与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规模化复制推广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8046720" cy="822960"/>
          </a:xfrm>
          <a:prstGeom prst="rectangle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794760"/>
            <a:ext cx="804672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目标客户画像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动车组段厂(一二级修) → 城轨地铁运营公司 → 铁路装备制造商 → 轨道交通科研机构</a:t>
            </a:r>
            <a:endParaRPr lang="en-US" sz="10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"/>
            <a:ext cx="1463040" cy="274320"/>
          </a:xfrm>
          <a:prstGeom prst="rectangle">
            <a:avLst>
              <a:gd name="adj" fmla="val 16667"/>
            </a:avLst>
          </a:prstGeom>
          <a:solidFill>
            <a:srgbClr val="20529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总结与展望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五大核心发现与关键数据回顾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1828800" cy="36576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8046720" cy="594360"/>
          </a:xfrm>
          <a:prstGeom prst="rectangle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8046720" cy="54864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051560"/>
            <a:ext cx="73152" cy="59436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051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市场空间巨大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13716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全球轨道交通数字孪生市场2031年将达31.69亿美元，中国检修仿真市场15-25亿元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737360"/>
            <a:ext cx="8046720" cy="594360"/>
          </a:xfrm>
          <a:prstGeom prst="rectangle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1737360"/>
            <a:ext cx="8046720" cy="54864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1737360"/>
            <a:ext cx="73152" cy="594360"/>
          </a:xfrm>
          <a:prstGeom prst="rectangle">
            <a:avLst/>
          </a:prstGeom>
          <a:solidFill>
            <a:srgbClr val="14427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1737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42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铁路是最大细分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铁路运输占交通运输数字孪生市场42%，动车组保有量突破4000标准组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423160"/>
            <a:ext cx="8046720" cy="594360"/>
          </a:xfrm>
          <a:prstGeom prst="rectangle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423160"/>
            <a:ext cx="8046720" cy="54864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423160"/>
            <a:ext cx="73152" cy="594360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423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52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综合平台市场空白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2743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同时支持部件检修+段厂调度+设计辅助+生产调度的综合平台尚不存在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8046720" cy="594360"/>
          </a:xfrm>
          <a:prstGeom prst="rectangle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108960"/>
            <a:ext cx="8046720" cy="54864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108960"/>
            <a:ext cx="73152" cy="594360"/>
          </a:xfrm>
          <a:prstGeom prst="rectangle">
            <a:avLst/>
          </a:prstGeom>
          <a:solidFill>
            <a:srgbClr val="2C74B3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1089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技术窗口期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34290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AI+数字孪生融合处于早期阶段，Unity+开源算法是最佳技术路线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8046720" cy="594360"/>
          </a:xfrm>
          <a:prstGeom prst="rectangle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794760"/>
            <a:ext cx="8046720" cy="54864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794760"/>
            <a:ext cx="73152" cy="59436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794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801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政策全面支持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41148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国家战略+行业政策+地方配套，形成全方位政策支持体系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rectangle">
            <a:avLst>
              <a:gd name="adj" fmla="val 50000"/>
            </a:avLst>
          </a:prstGeom>
          <a:solidFill>
            <a:srgbClr val="144272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3200400"/>
            <a:ext cx="2286000" cy="2286000"/>
          </a:xfrm>
          <a:prstGeom prst="rectangle">
            <a:avLst>
              <a:gd name="adj" fmla="val 50000"/>
            </a:avLst>
          </a:prstGeom>
          <a:solidFill>
            <a:srgbClr val="205295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-457200"/>
            <a:ext cx="1828800" cy="1828800"/>
          </a:xfrm>
          <a:prstGeom prst="rectangle">
            <a:avLst>
              <a:gd name="adj" fmla="val 50000"/>
            </a:avLst>
          </a:prstGeom>
          <a:solidFill>
            <a:srgbClr val="144272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4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 谢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2743200"/>
            <a:ext cx="2743200" cy="27432"/>
          </a:xfrm>
          <a:prstGeom prst="rectangle">
            <a:avLst/>
          </a:prstGeom>
          <a:solidFill>
            <a:srgbClr val="E8505B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轨道交通数字孪生仿真系统市场分析报告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383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竞品深度调研与技术路线分析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angle">
            <a:avLst/>
          </a:prstGeom>
          <a:solidFill>
            <a:srgbClr val="20529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48</a:t>
            </a:r>
            <a:endParaRPr lang="en-US" sz="9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轨道交通数字孪生仿真系统市场分析报告</dc:title>
  <dc:subject>PptxGenJS Presentation</dc:subject>
  <dc:creator>Market Research Team</dc:creator>
  <cp:lastModifiedBy>Market Research Team</cp:lastModifiedBy>
  <cp:revision>1</cp:revision>
  <dcterms:created xsi:type="dcterms:W3CDTF">2026-04-20T07:07:58Z</dcterms:created>
  <dcterms:modified xsi:type="dcterms:W3CDTF">2026-04-20T07:07:58Z</dcterms:modified>
</cp:coreProperties>
</file>